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2572"/>
    <a:srgbClr val="FF3737"/>
    <a:srgbClr val="EEE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4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A6097-0452-4EE7-A1E0-5C58CDADEB5B}" type="datetimeFigureOut">
              <a:rPr lang="en-IN" smtClean="0"/>
              <a:t>31-07-2023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022FB-4E4D-4276-940F-709B7BB2B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441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50A6-C1B2-4296-BEFB-4512E081B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946" y="1238435"/>
            <a:ext cx="7374108" cy="1009835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rgbClr val="EF2572"/>
                </a:solidFill>
                <a:latin typeface="Algerian" panose="04020705040A02060702" pitchFamily="82" charset="0"/>
              </a:rPr>
              <a:t>OPERATING SYSTEM</a:t>
            </a:r>
            <a:endParaRPr lang="en-IN" sz="6000" dirty="0">
              <a:solidFill>
                <a:srgbClr val="EF257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9756C-7BFB-4E8A-825C-F205C20C2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5111" y="2362200"/>
            <a:ext cx="6581776" cy="369332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dirty="0">
                <a:solidFill>
                  <a:schemeClr val="tx1">
                    <a:lumMod val="85000"/>
                  </a:schemeClr>
                </a:solidFill>
              </a:rPr>
              <a:t>Topic :- operating system and their types</a:t>
            </a:r>
            <a:endParaRPr lang="en-IN" dirty="0">
              <a:solidFill>
                <a:schemeClr val="tx1">
                  <a:lumMod val="85000"/>
                </a:schemeClr>
              </a:solidFill>
            </a:endParaRP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F927974C-B0A6-4C70-A384-806811756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0849" y="163513"/>
            <a:ext cx="1389062" cy="1389062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65000"/>
                <a:lumOff val="35000"/>
                <a:alpha val="6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99580D-85CA-4806-B4AC-F4D787C26DF8}"/>
              </a:ext>
            </a:extLst>
          </p:cNvPr>
          <p:cNvSpPr txBox="1"/>
          <p:nvPr/>
        </p:nvSpPr>
        <p:spPr>
          <a:xfrm>
            <a:off x="3574254" y="3429000"/>
            <a:ext cx="50434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Name</a:t>
            </a:r>
            <a:r>
              <a:rPr lang="en-US" sz="2800" dirty="0"/>
              <a:t> :-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SAYAN GHOSH</a:t>
            </a:r>
          </a:p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Roll No. </a:t>
            </a:r>
            <a:r>
              <a:rPr lang="en-US" sz="2800" dirty="0"/>
              <a:t>:-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15201222165</a:t>
            </a:r>
          </a:p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cs typeface="Calibri" panose="020F0502020204030204" pitchFamily="34" charset="0"/>
              </a:rPr>
              <a:t>Stream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:- BCA </a:t>
            </a:r>
          </a:p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cs typeface="Calibri" panose="020F0502020204030204" pitchFamily="34" charset="0"/>
              </a:rPr>
              <a:t>Sem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:-  3</a:t>
            </a:r>
            <a:r>
              <a:rPr lang="en-US" sz="2800" b="1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Paper Code </a:t>
            </a:r>
            <a:r>
              <a:rPr lang="en-US" sz="2800" dirty="0"/>
              <a:t>:-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BCAC302</a:t>
            </a:r>
          </a:p>
          <a:p>
            <a:r>
              <a:rPr lang="en-US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Paper Name </a:t>
            </a:r>
            <a:r>
              <a:rPr lang="en-US" sz="2800" dirty="0"/>
              <a:t>:-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Operating System</a:t>
            </a:r>
            <a:endParaRPr lang="en-IN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597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F9DE7B8-ABFA-4E3E-93EE-7790E528A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EEE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operating system ?</a:t>
            </a:r>
            <a:endParaRPr lang="en-IN" sz="4400" b="1" dirty="0">
              <a:solidFill>
                <a:srgbClr val="EEE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D5DB9AA-2668-4A45-9F5D-AB965E68F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6000" contrast="3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43303" y="2097088"/>
            <a:ext cx="3073268" cy="2922587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AAF55A-8E2D-4A5B-983B-4121984FF0BD}"/>
              </a:ext>
            </a:extLst>
          </p:cNvPr>
          <p:cNvSpPr txBox="1"/>
          <p:nvPr/>
        </p:nvSpPr>
        <p:spPr>
          <a:xfrm>
            <a:off x="1510573" y="2097088"/>
            <a:ext cx="66999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>
                    <a:lumMod val="85000"/>
                  </a:schemeClr>
                </a:solidFill>
              </a:rPr>
              <a:t>An operating system is a program that acts as an interface between the </a:t>
            </a:r>
            <a:r>
              <a:rPr lang="en-US" sz="3000" dirty="0">
                <a:solidFill>
                  <a:srgbClr val="FF3737"/>
                </a:solidFill>
              </a:rPr>
              <a:t>user and the computer hardware</a:t>
            </a:r>
            <a:r>
              <a:rPr lang="en-US" sz="3000" dirty="0">
                <a:solidFill>
                  <a:schemeClr val="tx1">
                    <a:lumMod val="85000"/>
                  </a:schemeClr>
                </a:solidFill>
              </a:rPr>
              <a:t> and it</a:t>
            </a:r>
            <a:r>
              <a:rPr lang="en-US" sz="3000" dirty="0">
                <a:solidFill>
                  <a:srgbClr val="FF3737"/>
                </a:solidFill>
              </a:rPr>
              <a:t> controls </a:t>
            </a:r>
            <a:r>
              <a:rPr lang="en-US" sz="3000" dirty="0">
                <a:solidFill>
                  <a:schemeClr val="tx1">
                    <a:lumMod val="85000"/>
                  </a:schemeClr>
                </a:solidFill>
              </a:rPr>
              <a:t>the execution of all kind of programs. It is also known as resource manager of the system.</a:t>
            </a:r>
          </a:p>
          <a:p>
            <a:endParaRPr lang="en-US" sz="3000" dirty="0">
              <a:solidFill>
                <a:schemeClr val="tx1">
                  <a:lumMod val="85000"/>
                </a:schemeClr>
              </a:solidFill>
            </a:endParaRPr>
          </a:p>
          <a:p>
            <a:r>
              <a:rPr lang="en-US" sz="3000" dirty="0">
                <a:solidFill>
                  <a:srgbClr val="FFC000"/>
                </a:solidFill>
              </a:rPr>
              <a:t> </a:t>
            </a:r>
            <a:r>
              <a:rPr lang="en-IN" sz="3000" dirty="0">
                <a:solidFill>
                  <a:srgbClr val="FFC000"/>
                </a:solidFill>
              </a:rPr>
              <a:t>Examples :- </a:t>
            </a:r>
            <a:r>
              <a:rPr lang="en-IN" sz="3000" dirty="0">
                <a:solidFill>
                  <a:schemeClr val="tx1">
                    <a:lumMod val="85000"/>
                  </a:schemeClr>
                </a:solidFill>
              </a:rPr>
              <a:t>Microsoft Windows, Linux,</a:t>
            </a:r>
          </a:p>
          <a:p>
            <a:r>
              <a:rPr lang="en-IN" sz="3000" dirty="0">
                <a:solidFill>
                  <a:schemeClr val="tx1">
                    <a:lumMod val="85000"/>
                  </a:schemeClr>
                </a:solidFill>
              </a:rPr>
              <a:t> macOS etc.</a:t>
            </a:r>
            <a:endParaRPr lang="en-US" sz="3000" dirty="0">
              <a:solidFill>
                <a:schemeClr val="tx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78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86BDC6-1121-47AA-8B10-5EF861DE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882" y="380393"/>
            <a:ext cx="10535444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rgbClr val="EEEE8A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Operating system as resource manager</a:t>
            </a:r>
            <a:endParaRPr lang="en-IN" sz="4400" b="1" dirty="0">
              <a:solidFill>
                <a:srgbClr val="EEEE8A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257D7-278C-4270-BC1E-C195A9B0B678}"/>
              </a:ext>
            </a:extLst>
          </p:cNvPr>
          <p:cNvSpPr txBox="1"/>
          <p:nvPr/>
        </p:nvSpPr>
        <p:spPr>
          <a:xfrm>
            <a:off x="1881187" y="1858963"/>
            <a:ext cx="842962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Operating System is called recourse manager as it </a:t>
            </a:r>
            <a:r>
              <a:rPr lang="en-US" sz="3200" dirty="0">
                <a:solidFill>
                  <a:srgbClr val="EF2572"/>
                </a:solidFill>
              </a:rPr>
              <a:t>manages different resources like main memory, CPU, I/O devices</a:t>
            </a:r>
            <a:r>
              <a:rPr lang="en-US" sz="3200" dirty="0"/>
              <a:t> so that each resource is used optimally and system performance doesn't deteriorate.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5433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24AF-C2CF-47C0-BBEF-6FB37891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364787" cy="1478570"/>
          </a:xfrm>
        </p:spPr>
        <p:txBody>
          <a:bodyPr>
            <a:noAutofit/>
          </a:bodyPr>
          <a:lstStyle/>
          <a:p>
            <a:pPr algn="ctr"/>
            <a:r>
              <a:rPr lang="en-US" sz="5000" b="1" dirty="0">
                <a:solidFill>
                  <a:srgbClr val="EEEE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operating system</a:t>
            </a:r>
            <a:endParaRPr lang="en-IN" sz="5000" b="1" dirty="0">
              <a:solidFill>
                <a:srgbClr val="EEEE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1FDFE-0966-40D0-AEF2-40CCCA587904}"/>
              </a:ext>
            </a:extLst>
          </p:cNvPr>
          <p:cNvSpPr txBox="1"/>
          <p:nvPr/>
        </p:nvSpPr>
        <p:spPr>
          <a:xfrm>
            <a:off x="1141413" y="2775469"/>
            <a:ext cx="436068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Batch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Time Sharing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Network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 Time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Distributed Operating System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60E16-2EA1-43E9-BF95-453EA4CAA170}"/>
              </a:ext>
            </a:extLst>
          </p:cNvPr>
          <p:cNvSpPr txBox="1"/>
          <p:nvPr/>
        </p:nvSpPr>
        <p:spPr>
          <a:xfrm>
            <a:off x="1141413" y="2097088"/>
            <a:ext cx="436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There are FIVE Types of Operating System </a:t>
            </a:r>
            <a:endParaRPr lang="en-IN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F0FD538-11DB-4741-B1E0-7D3B91EAAD07}"/>
              </a:ext>
            </a:extLst>
          </p:cNvPr>
          <p:cNvSpPr/>
          <p:nvPr/>
        </p:nvSpPr>
        <p:spPr>
          <a:xfrm>
            <a:off x="7686675" y="3279427"/>
            <a:ext cx="1724024" cy="1056102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Operating System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1C7702-3047-4A4C-8CFB-FE6B97014B2A}"/>
              </a:ext>
            </a:extLst>
          </p:cNvPr>
          <p:cNvSpPr/>
          <p:nvPr/>
        </p:nvSpPr>
        <p:spPr>
          <a:xfrm>
            <a:off x="6075761" y="2775469"/>
            <a:ext cx="1497806" cy="809625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/>
              <a:t>Time Sharing OS</a:t>
            </a:r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FA7379-124A-4A54-9931-A099F3972011}"/>
              </a:ext>
            </a:extLst>
          </p:cNvPr>
          <p:cNvSpPr/>
          <p:nvPr/>
        </p:nvSpPr>
        <p:spPr>
          <a:xfrm>
            <a:off x="7955756" y="2143260"/>
            <a:ext cx="1200150" cy="646319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/>
              <a:t>Batch OS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FDA95E-F5B9-4D6D-A0C5-4CEEB0025B86}"/>
              </a:ext>
            </a:extLst>
          </p:cNvPr>
          <p:cNvSpPr/>
          <p:nvPr/>
        </p:nvSpPr>
        <p:spPr>
          <a:xfrm>
            <a:off x="6862763" y="4767433"/>
            <a:ext cx="1395412" cy="709612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/>
              <a:t>Network OS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2A7FFA-E561-47A5-9B71-6025C521FAF2}"/>
              </a:ext>
            </a:extLst>
          </p:cNvPr>
          <p:cNvSpPr/>
          <p:nvPr/>
        </p:nvSpPr>
        <p:spPr>
          <a:xfrm>
            <a:off x="8955881" y="4723539"/>
            <a:ext cx="1547813" cy="772142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/>
              <a:t>Real Time OS</a:t>
            </a:r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9514073-CB5E-4672-9F31-06F6EF363463}"/>
              </a:ext>
            </a:extLst>
          </p:cNvPr>
          <p:cNvSpPr/>
          <p:nvPr/>
        </p:nvSpPr>
        <p:spPr>
          <a:xfrm>
            <a:off x="9410699" y="2745014"/>
            <a:ext cx="1724023" cy="809625"/>
          </a:xfrm>
          <a:prstGeom prst="ellipse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dirty="0"/>
              <a:t>Distributed OS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C2A7BA-23DF-4CA2-82BB-8C78498948DC}"/>
              </a:ext>
            </a:extLst>
          </p:cNvPr>
          <p:cNvCxnSpPr>
            <a:stCxn id="5" idx="0"/>
            <a:endCxn id="8" idx="4"/>
          </p:cNvCxnSpPr>
          <p:nvPr/>
        </p:nvCxnSpPr>
        <p:spPr>
          <a:xfrm flipV="1">
            <a:off x="8548687" y="2789579"/>
            <a:ext cx="7144" cy="489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A39995-75BE-4B4B-9A56-5100CBD6413C}"/>
              </a:ext>
            </a:extLst>
          </p:cNvPr>
          <p:cNvCxnSpPr>
            <a:cxnSpLocks/>
            <a:stCxn id="5" idx="2"/>
            <a:endCxn id="7" idx="4"/>
          </p:cNvCxnSpPr>
          <p:nvPr/>
        </p:nvCxnSpPr>
        <p:spPr>
          <a:xfrm flipH="1" flipV="1">
            <a:off x="6824664" y="3585094"/>
            <a:ext cx="862011" cy="22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334EA6-5269-448B-876B-6E65C333B8CE}"/>
              </a:ext>
            </a:extLst>
          </p:cNvPr>
          <p:cNvCxnSpPr>
            <a:stCxn id="5" idx="3"/>
            <a:endCxn id="9" idx="0"/>
          </p:cNvCxnSpPr>
          <p:nvPr/>
        </p:nvCxnSpPr>
        <p:spPr>
          <a:xfrm flipH="1">
            <a:off x="7560469" y="4180866"/>
            <a:ext cx="378683" cy="586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B94AEB-7A38-45EF-A2A5-65DB660CB6E0}"/>
              </a:ext>
            </a:extLst>
          </p:cNvPr>
          <p:cNvCxnSpPr>
            <a:cxnSpLocks/>
            <a:stCxn id="5" idx="5"/>
            <a:endCxn id="10" idx="0"/>
          </p:cNvCxnSpPr>
          <p:nvPr/>
        </p:nvCxnSpPr>
        <p:spPr>
          <a:xfrm>
            <a:off x="9158222" y="4180866"/>
            <a:ext cx="571566" cy="542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798421-2774-4A15-B283-52316F3DA0D8}"/>
              </a:ext>
            </a:extLst>
          </p:cNvPr>
          <p:cNvCxnSpPr>
            <a:cxnSpLocks/>
            <a:stCxn id="5" idx="6"/>
            <a:endCxn id="11" idx="4"/>
          </p:cNvCxnSpPr>
          <p:nvPr/>
        </p:nvCxnSpPr>
        <p:spPr>
          <a:xfrm flipV="1">
            <a:off x="9410699" y="3554639"/>
            <a:ext cx="862012" cy="252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05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3A04-E48A-4F8A-9C81-57F7C696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1947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EEEE8A"/>
                </a:solidFill>
              </a:rPr>
              <a:t>Batch Operating System</a:t>
            </a:r>
            <a:endParaRPr lang="en-IN" sz="6000" dirty="0">
              <a:solidFill>
                <a:srgbClr val="EEEE8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B73E75-8E7A-471D-B4A0-BB482E814523}"/>
              </a:ext>
            </a:extLst>
          </p:cNvPr>
          <p:cNvSpPr txBox="1"/>
          <p:nvPr/>
        </p:nvSpPr>
        <p:spPr>
          <a:xfrm>
            <a:off x="1141413" y="4678363"/>
            <a:ext cx="100393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An Operating System that allows multiple user to use it, without direct communication between them. It achieve this by keeping all users in separate </a:t>
            </a:r>
            <a:r>
              <a:rPr lang="en-US" sz="3000" dirty="0">
                <a:solidFill>
                  <a:srgbClr val="FF3737"/>
                </a:solidFill>
              </a:rPr>
              <a:t>‘batches’ </a:t>
            </a:r>
            <a:r>
              <a:rPr lang="en-US" sz="3000" dirty="0"/>
              <a:t>means they cannot interact with each other directly</a:t>
            </a:r>
            <a:endParaRPr lang="en-IN" sz="3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78DA8C-A169-4793-9FC5-41CB4EA156B1}"/>
              </a:ext>
            </a:extLst>
          </p:cNvPr>
          <p:cNvSpPr/>
          <p:nvPr/>
        </p:nvSpPr>
        <p:spPr>
          <a:xfrm>
            <a:off x="4695828" y="2128410"/>
            <a:ext cx="2152650" cy="20013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Operating System</a:t>
            </a:r>
            <a:endParaRPr lang="en-IN" sz="24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869410-45E1-4BC2-B4D4-BAFAC64E11C2}"/>
              </a:ext>
            </a:extLst>
          </p:cNvPr>
          <p:cNvSpPr/>
          <p:nvPr/>
        </p:nvSpPr>
        <p:spPr>
          <a:xfrm>
            <a:off x="2435621" y="2054803"/>
            <a:ext cx="1419225" cy="5486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JOB 1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3866C7-1F86-422B-9307-C9B995B66BDD}"/>
              </a:ext>
            </a:extLst>
          </p:cNvPr>
          <p:cNvSpPr/>
          <p:nvPr/>
        </p:nvSpPr>
        <p:spPr>
          <a:xfrm>
            <a:off x="2457455" y="2867882"/>
            <a:ext cx="1419225" cy="5486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JOB 1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A9E442-E44E-421F-B521-FEF1F02A8844}"/>
              </a:ext>
            </a:extLst>
          </p:cNvPr>
          <p:cNvSpPr/>
          <p:nvPr/>
        </p:nvSpPr>
        <p:spPr>
          <a:xfrm>
            <a:off x="2435621" y="3769441"/>
            <a:ext cx="1419225" cy="5486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JOB 1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64C897-36D7-4D47-AACE-923B2B596BB7}"/>
              </a:ext>
            </a:extLst>
          </p:cNvPr>
          <p:cNvSpPr/>
          <p:nvPr/>
        </p:nvSpPr>
        <p:spPr>
          <a:xfrm>
            <a:off x="7496170" y="2054802"/>
            <a:ext cx="1419225" cy="5486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EA1180-1808-4865-8687-B8FB639FFDBE}"/>
              </a:ext>
            </a:extLst>
          </p:cNvPr>
          <p:cNvSpPr/>
          <p:nvPr/>
        </p:nvSpPr>
        <p:spPr>
          <a:xfrm>
            <a:off x="7496172" y="2881846"/>
            <a:ext cx="1419225" cy="5486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67FC80-5506-42E4-938C-74AC47D0D96E}"/>
              </a:ext>
            </a:extLst>
          </p:cNvPr>
          <p:cNvSpPr/>
          <p:nvPr/>
        </p:nvSpPr>
        <p:spPr>
          <a:xfrm>
            <a:off x="7496171" y="3763686"/>
            <a:ext cx="1419225" cy="5486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Batch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ED0B46-B628-4C5A-8F76-C03F32B409E0}"/>
              </a:ext>
            </a:extLst>
          </p:cNvPr>
          <p:cNvSpPr/>
          <p:nvPr/>
        </p:nvSpPr>
        <p:spPr>
          <a:xfrm>
            <a:off x="9906000" y="2091898"/>
            <a:ext cx="1141411" cy="205754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CPU</a:t>
            </a:r>
            <a:endParaRPr lang="en-IN" sz="4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0C0236-C37A-46A4-8FBE-7CC8710D00C3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3854846" y="2329114"/>
            <a:ext cx="1156230" cy="9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1D491C2-E081-4138-9DEE-E1BB432A802D}"/>
              </a:ext>
            </a:extLst>
          </p:cNvPr>
          <p:cNvCxnSpPr>
            <a:stCxn id="11" idx="3"/>
            <a:endCxn id="9" idx="2"/>
          </p:cNvCxnSpPr>
          <p:nvPr/>
        </p:nvCxnSpPr>
        <p:spPr>
          <a:xfrm flipV="1">
            <a:off x="3876680" y="3129076"/>
            <a:ext cx="819148" cy="13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F53483-08E5-4CC9-B123-77DE88DE684A}"/>
              </a:ext>
            </a:extLst>
          </p:cNvPr>
          <p:cNvCxnSpPr>
            <a:stCxn id="12" idx="3"/>
            <a:endCxn id="9" idx="3"/>
          </p:cNvCxnSpPr>
          <p:nvPr/>
        </p:nvCxnSpPr>
        <p:spPr>
          <a:xfrm flipV="1">
            <a:off x="3854846" y="3836654"/>
            <a:ext cx="1156230" cy="207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86E4FF-AC6A-45A7-BF6D-DD8DA2EACDC0}"/>
              </a:ext>
            </a:extLst>
          </p:cNvPr>
          <p:cNvCxnSpPr>
            <a:cxnSpLocks/>
            <a:stCxn id="9" idx="7"/>
            <a:endCxn id="13" idx="1"/>
          </p:cNvCxnSpPr>
          <p:nvPr/>
        </p:nvCxnSpPr>
        <p:spPr>
          <a:xfrm flipV="1">
            <a:off x="6533230" y="2329113"/>
            <a:ext cx="962940" cy="92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A0C278-39E6-40CE-985A-E346138F4D6B}"/>
              </a:ext>
            </a:extLst>
          </p:cNvPr>
          <p:cNvCxnSpPr>
            <a:stCxn id="9" idx="6"/>
            <a:endCxn id="14" idx="1"/>
          </p:cNvCxnSpPr>
          <p:nvPr/>
        </p:nvCxnSpPr>
        <p:spPr>
          <a:xfrm>
            <a:off x="6848478" y="3129076"/>
            <a:ext cx="647694" cy="27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3A36DD-55AA-41E1-9F73-AC0B78ADC63B}"/>
              </a:ext>
            </a:extLst>
          </p:cNvPr>
          <p:cNvCxnSpPr>
            <a:stCxn id="9" idx="5"/>
            <a:endCxn id="15" idx="1"/>
          </p:cNvCxnSpPr>
          <p:nvPr/>
        </p:nvCxnSpPr>
        <p:spPr>
          <a:xfrm>
            <a:off x="6533230" y="3836654"/>
            <a:ext cx="962941" cy="201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A2739CA0-E1C0-4BD9-9C1C-E0EEA48EF5BC}"/>
              </a:ext>
            </a:extLst>
          </p:cNvPr>
          <p:cNvSpPr/>
          <p:nvPr/>
        </p:nvSpPr>
        <p:spPr>
          <a:xfrm>
            <a:off x="8915394" y="2238833"/>
            <a:ext cx="990603" cy="22629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1FD9DD8B-04C3-4086-A8DA-25AED5B39D01}"/>
              </a:ext>
            </a:extLst>
          </p:cNvPr>
          <p:cNvSpPr/>
          <p:nvPr/>
        </p:nvSpPr>
        <p:spPr>
          <a:xfrm>
            <a:off x="8915394" y="3052876"/>
            <a:ext cx="990603" cy="226295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AAEBFA60-0D42-49B1-89B3-BE90714EB4AD}"/>
              </a:ext>
            </a:extLst>
          </p:cNvPr>
          <p:cNvSpPr/>
          <p:nvPr/>
        </p:nvSpPr>
        <p:spPr>
          <a:xfrm>
            <a:off x="8915394" y="3905250"/>
            <a:ext cx="962941" cy="22449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41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CAB6-2B05-48D5-AB3C-97141AB28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393" y="752474"/>
            <a:ext cx="9955213" cy="1400175"/>
          </a:xfrm>
        </p:spPr>
        <p:txBody>
          <a:bodyPr>
            <a:normAutofit/>
          </a:bodyPr>
          <a:lstStyle/>
          <a:p>
            <a:pPr algn="ctr"/>
            <a:r>
              <a:rPr lang="en-US" sz="5000" dirty="0">
                <a:solidFill>
                  <a:srgbClr val="EEEE8A"/>
                </a:solidFill>
              </a:rPr>
              <a:t>Time sharing operating system</a:t>
            </a:r>
            <a:endParaRPr lang="en-IN" sz="5000" dirty="0">
              <a:solidFill>
                <a:srgbClr val="EEEE8A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C7A83C-9C02-4801-B324-5835B2886FED}"/>
              </a:ext>
            </a:extLst>
          </p:cNvPr>
          <p:cNvSpPr/>
          <p:nvPr/>
        </p:nvSpPr>
        <p:spPr>
          <a:xfrm>
            <a:off x="5293100" y="2586036"/>
            <a:ext cx="1466851" cy="14001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8504F-8C56-4C02-A1E5-08D5AB29F743}"/>
              </a:ext>
            </a:extLst>
          </p:cNvPr>
          <p:cNvSpPr txBox="1"/>
          <p:nvPr/>
        </p:nvSpPr>
        <p:spPr>
          <a:xfrm>
            <a:off x="1524979" y="4743183"/>
            <a:ext cx="968594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It is a type of Operating system in which user can perform more than one task and each task </a:t>
            </a:r>
            <a:r>
              <a:rPr lang="en-US" sz="3200" dirty="0">
                <a:solidFill>
                  <a:srgbClr val="FF3737"/>
                </a:solidFill>
              </a:rPr>
              <a:t>gets the same amount of time to execute.</a:t>
            </a:r>
            <a:r>
              <a:rPr lang="en-US" sz="3200" dirty="0"/>
              <a:t> It is also called a multitasking operating system </a:t>
            </a:r>
            <a:endParaRPr lang="en-IN" sz="3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89236-1062-477F-8656-D61E7D85D9AE}"/>
              </a:ext>
            </a:extLst>
          </p:cNvPr>
          <p:cNvSpPr/>
          <p:nvPr/>
        </p:nvSpPr>
        <p:spPr>
          <a:xfrm>
            <a:off x="3346367" y="2276740"/>
            <a:ext cx="1268494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78CC38-A0C2-4DF4-B53C-F57DE12E48AF}"/>
              </a:ext>
            </a:extLst>
          </p:cNvPr>
          <p:cNvSpPr/>
          <p:nvPr/>
        </p:nvSpPr>
        <p:spPr>
          <a:xfrm>
            <a:off x="3346367" y="3033712"/>
            <a:ext cx="1268494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3CC33-164C-4429-9880-00EC899132C8}"/>
              </a:ext>
            </a:extLst>
          </p:cNvPr>
          <p:cNvSpPr/>
          <p:nvPr/>
        </p:nvSpPr>
        <p:spPr>
          <a:xfrm>
            <a:off x="3346367" y="3809999"/>
            <a:ext cx="1268494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124F17-FA8D-4E1C-AC33-C0C90E5A9D24}"/>
              </a:ext>
            </a:extLst>
          </p:cNvPr>
          <p:cNvSpPr/>
          <p:nvPr/>
        </p:nvSpPr>
        <p:spPr>
          <a:xfrm>
            <a:off x="7438190" y="3724273"/>
            <a:ext cx="1268494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E6CBC8-D9BF-42F1-A2C0-373CDDC525B0}"/>
              </a:ext>
            </a:extLst>
          </p:cNvPr>
          <p:cNvSpPr/>
          <p:nvPr/>
        </p:nvSpPr>
        <p:spPr>
          <a:xfrm>
            <a:off x="7449177" y="3024186"/>
            <a:ext cx="1268494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46CA4B-D0EA-4E6B-BBEF-94D11BFA9AE7}"/>
              </a:ext>
            </a:extLst>
          </p:cNvPr>
          <p:cNvSpPr/>
          <p:nvPr/>
        </p:nvSpPr>
        <p:spPr>
          <a:xfrm>
            <a:off x="7449177" y="2276739"/>
            <a:ext cx="1268494" cy="523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 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769DE5-2C54-4B3B-AFA5-ADB3F2A2587E}"/>
              </a:ext>
            </a:extLst>
          </p:cNvPr>
          <p:cNvCxnSpPr>
            <a:stCxn id="5" idx="3"/>
            <a:endCxn id="3" idx="1"/>
          </p:cNvCxnSpPr>
          <p:nvPr/>
        </p:nvCxnSpPr>
        <p:spPr>
          <a:xfrm>
            <a:off x="4614861" y="2538678"/>
            <a:ext cx="893054" cy="252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EDAB31-BC6F-44C4-B7AC-7D872C3E7ED1}"/>
              </a:ext>
            </a:extLst>
          </p:cNvPr>
          <p:cNvCxnSpPr>
            <a:stCxn id="6" idx="3"/>
            <a:endCxn id="3" idx="2"/>
          </p:cNvCxnSpPr>
          <p:nvPr/>
        </p:nvCxnSpPr>
        <p:spPr>
          <a:xfrm flipV="1">
            <a:off x="4614861" y="3286124"/>
            <a:ext cx="678239" cy="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3D6803-EB55-4021-AB41-B6D2C9FCDD0A}"/>
              </a:ext>
            </a:extLst>
          </p:cNvPr>
          <p:cNvCxnSpPr>
            <a:stCxn id="7" idx="3"/>
            <a:endCxn id="3" idx="3"/>
          </p:cNvCxnSpPr>
          <p:nvPr/>
        </p:nvCxnSpPr>
        <p:spPr>
          <a:xfrm flipV="1">
            <a:off x="4614861" y="3781160"/>
            <a:ext cx="893054" cy="29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18DC14-DFCA-4B62-86F1-A8521E6DE627}"/>
              </a:ext>
            </a:extLst>
          </p:cNvPr>
          <p:cNvCxnSpPr>
            <a:stCxn id="10" idx="1"/>
            <a:endCxn id="3" idx="7"/>
          </p:cNvCxnSpPr>
          <p:nvPr/>
        </p:nvCxnSpPr>
        <p:spPr>
          <a:xfrm flipH="1">
            <a:off x="6545136" y="2538677"/>
            <a:ext cx="904041" cy="252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B204A8C-5362-431D-ADE4-089ABA3932AD}"/>
              </a:ext>
            </a:extLst>
          </p:cNvPr>
          <p:cNvCxnSpPr>
            <a:stCxn id="9" idx="1"/>
            <a:endCxn id="3" idx="6"/>
          </p:cNvCxnSpPr>
          <p:nvPr/>
        </p:nvCxnSpPr>
        <p:spPr>
          <a:xfrm flipH="1">
            <a:off x="6759951" y="3286124"/>
            <a:ext cx="6892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001EE7-B532-43EB-B27B-C7D24A9FF6C1}"/>
              </a:ext>
            </a:extLst>
          </p:cNvPr>
          <p:cNvCxnSpPr>
            <a:stCxn id="8" idx="1"/>
            <a:endCxn id="3" idx="5"/>
          </p:cNvCxnSpPr>
          <p:nvPr/>
        </p:nvCxnSpPr>
        <p:spPr>
          <a:xfrm flipH="1" flipV="1">
            <a:off x="6545136" y="3781160"/>
            <a:ext cx="893054" cy="205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2FCAF23-D85A-487B-8D19-503CA37397B8}"/>
              </a:ext>
            </a:extLst>
          </p:cNvPr>
          <p:cNvSpPr txBox="1"/>
          <p:nvPr/>
        </p:nvSpPr>
        <p:spPr>
          <a:xfrm>
            <a:off x="8717671" y="3801544"/>
            <a:ext cx="136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Ready state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848871-F2E7-4C2B-96E9-F89DC392D4FE}"/>
              </a:ext>
            </a:extLst>
          </p:cNvPr>
          <p:cNvSpPr txBox="1"/>
          <p:nvPr/>
        </p:nvSpPr>
        <p:spPr>
          <a:xfrm>
            <a:off x="8724209" y="3116413"/>
            <a:ext cx="136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Active state</a:t>
            </a:r>
          </a:p>
        </p:txBody>
      </p:sp>
    </p:spTree>
    <p:extLst>
      <p:ext uri="{BB962C8B-B14F-4D97-AF65-F5344CB8AC3E}">
        <p14:creationId xmlns:p14="http://schemas.microsoft.com/office/powerpoint/2010/main" val="106406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85D2-CF58-4C63-9670-ACF59EC8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89971"/>
            <a:ext cx="9905998" cy="96447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rgbClr val="EEEE8A"/>
                </a:solidFill>
              </a:rPr>
              <a:t>Network operating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AB3D62-0181-4C97-ACFF-24BB97737F53}"/>
              </a:ext>
            </a:extLst>
          </p:cNvPr>
          <p:cNvSpPr txBox="1"/>
          <p:nvPr/>
        </p:nvSpPr>
        <p:spPr>
          <a:xfrm>
            <a:off x="1428750" y="5153025"/>
            <a:ext cx="9715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It is a specializes operating system for a network devices such as a router switch or firewall.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2AACE2-561C-45E8-9B63-E0176C21D6DB}"/>
              </a:ext>
            </a:extLst>
          </p:cNvPr>
          <p:cNvSpPr/>
          <p:nvPr/>
        </p:nvSpPr>
        <p:spPr>
          <a:xfrm>
            <a:off x="5462587" y="2629119"/>
            <a:ext cx="1266825" cy="126682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HUB</a:t>
            </a:r>
          </a:p>
        </p:txBody>
      </p:sp>
      <p:pic>
        <p:nvPicPr>
          <p:cNvPr id="6" name="Graphic 5" descr="Monitor">
            <a:extLst>
              <a:ext uri="{FF2B5EF4-FFF2-40B4-BE49-F238E27FC236}">
                <a16:creationId xmlns:a16="http://schemas.microsoft.com/office/drawing/2014/main" id="{B6E90DD4-8035-470D-B645-1B08DCF27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8812" y="1480692"/>
            <a:ext cx="733783" cy="733783"/>
          </a:xfrm>
          <a:prstGeom prst="rect">
            <a:avLst/>
          </a:prstGeom>
        </p:spPr>
      </p:pic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9241F368-4EF2-4320-A03E-A128CA2B7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1631" y="4347339"/>
            <a:ext cx="668736" cy="668736"/>
          </a:xfrm>
          <a:prstGeom prst="rect">
            <a:avLst/>
          </a:prstGeom>
        </p:spPr>
      </p:pic>
      <p:pic>
        <p:nvPicPr>
          <p:cNvPr id="8" name="Graphic 7" descr="Monitor">
            <a:extLst>
              <a:ext uri="{FF2B5EF4-FFF2-40B4-BE49-F238E27FC236}">
                <a16:creationId xmlns:a16="http://schemas.microsoft.com/office/drawing/2014/main" id="{DA88C07C-B891-4BB7-A6FB-C8AA20D7E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9338" y="1847584"/>
            <a:ext cx="733783" cy="733783"/>
          </a:xfrm>
          <a:prstGeom prst="rect">
            <a:avLst/>
          </a:prstGeom>
        </p:spPr>
      </p:pic>
      <p:pic>
        <p:nvPicPr>
          <p:cNvPr id="9" name="Graphic 8" descr="Monitor">
            <a:extLst>
              <a:ext uri="{FF2B5EF4-FFF2-40B4-BE49-F238E27FC236}">
                <a16:creationId xmlns:a16="http://schemas.microsoft.com/office/drawing/2014/main" id="{E31DCEA2-B84E-4179-8C0A-445CB50FE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4936" y="1949055"/>
            <a:ext cx="724081" cy="724081"/>
          </a:xfrm>
          <a:prstGeom prst="rect">
            <a:avLst/>
          </a:prstGeom>
        </p:spPr>
      </p:pic>
      <p:pic>
        <p:nvPicPr>
          <p:cNvPr id="10" name="Graphic 9" descr="Monitor">
            <a:extLst>
              <a:ext uri="{FF2B5EF4-FFF2-40B4-BE49-F238E27FC236}">
                <a16:creationId xmlns:a16="http://schemas.microsoft.com/office/drawing/2014/main" id="{558CF953-0931-49E3-9306-676B5CA34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8445" y="3715327"/>
            <a:ext cx="668736" cy="668736"/>
          </a:xfrm>
          <a:prstGeom prst="rect">
            <a:avLst/>
          </a:prstGeom>
        </p:spPr>
      </p:pic>
      <p:grpSp>
        <p:nvGrpSpPr>
          <p:cNvPr id="15" name="Graphic 11" descr="Database">
            <a:extLst>
              <a:ext uri="{FF2B5EF4-FFF2-40B4-BE49-F238E27FC236}">
                <a16:creationId xmlns:a16="http://schemas.microsoft.com/office/drawing/2014/main" id="{F09C0001-1B9E-485E-A7B2-39C0E8D019F8}"/>
              </a:ext>
            </a:extLst>
          </p:cNvPr>
          <p:cNvGrpSpPr/>
          <p:nvPr/>
        </p:nvGrpSpPr>
        <p:grpSpPr>
          <a:xfrm>
            <a:off x="2316928" y="3949875"/>
            <a:ext cx="798421" cy="798421"/>
            <a:chOff x="2682101" y="3268396"/>
            <a:chExt cx="1075004" cy="10750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1C76D09-B7A3-4367-B828-B87361BA61F9}"/>
                </a:ext>
              </a:extLst>
            </p:cNvPr>
            <p:cNvSpPr/>
            <p:nvPr/>
          </p:nvSpPr>
          <p:spPr>
            <a:xfrm>
              <a:off x="2897662" y="3371977"/>
              <a:ext cx="638284" cy="190365"/>
            </a:xfrm>
            <a:custGeom>
              <a:avLst/>
              <a:gdLst>
                <a:gd name="connsiteX0" fmla="*/ 635484 w 638283"/>
                <a:gd name="connsiteY0" fmla="*/ 97982 h 190365"/>
                <a:gd name="connsiteX1" fmla="*/ 321941 w 638283"/>
                <a:gd name="connsiteY1" fmla="*/ 187566 h 190365"/>
                <a:gd name="connsiteX2" fmla="*/ 8398 w 638283"/>
                <a:gd name="connsiteY2" fmla="*/ 97982 h 190365"/>
                <a:gd name="connsiteX3" fmla="*/ 321941 w 638283"/>
                <a:gd name="connsiteY3" fmla="*/ 8398 h 190365"/>
                <a:gd name="connsiteX4" fmla="*/ 635484 w 638283"/>
                <a:gd name="connsiteY4" fmla="*/ 97982 h 19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8283" h="190365">
                  <a:moveTo>
                    <a:pt x="635484" y="97982"/>
                  </a:moveTo>
                  <a:cubicBezTo>
                    <a:pt x="635484" y="147458"/>
                    <a:pt x="495106" y="187566"/>
                    <a:pt x="321941" y="187566"/>
                  </a:cubicBezTo>
                  <a:cubicBezTo>
                    <a:pt x="148776" y="187566"/>
                    <a:pt x="8398" y="147458"/>
                    <a:pt x="8398" y="97982"/>
                  </a:cubicBezTo>
                  <a:cubicBezTo>
                    <a:pt x="8398" y="48506"/>
                    <a:pt x="148776" y="8398"/>
                    <a:pt x="321941" y="8398"/>
                  </a:cubicBezTo>
                  <a:cubicBezTo>
                    <a:pt x="495106" y="8398"/>
                    <a:pt x="635484" y="48506"/>
                    <a:pt x="635484" y="9798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5360FA-A5CC-4BF2-B39E-96C5FAC19A19}"/>
                </a:ext>
              </a:extLst>
            </p:cNvPr>
            <p:cNvSpPr/>
            <p:nvPr/>
          </p:nvSpPr>
          <p:spPr>
            <a:xfrm>
              <a:off x="2897662" y="3506353"/>
              <a:ext cx="638284" cy="279949"/>
            </a:xfrm>
            <a:custGeom>
              <a:avLst/>
              <a:gdLst>
                <a:gd name="connsiteX0" fmla="*/ 545901 w 638283"/>
                <a:gd name="connsiteY0" fmla="*/ 187566 h 279948"/>
                <a:gd name="connsiteX1" fmla="*/ 523505 w 638283"/>
                <a:gd name="connsiteY1" fmla="*/ 165170 h 279948"/>
                <a:gd name="connsiteX2" fmla="*/ 545901 w 638283"/>
                <a:gd name="connsiteY2" fmla="*/ 142774 h 279948"/>
                <a:gd name="connsiteX3" fmla="*/ 568296 w 638283"/>
                <a:gd name="connsiteY3" fmla="*/ 165170 h 279948"/>
                <a:gd name="connsiteX4" fmla="*/ 545901 w 638283"/>
                <a:gd name="connsiteY4" fmla="*/ 187566 h 279948"/>
                <a:gd name="connsiteX5" fmla="*/ 321941 w 638283"/>
                <a:gd name="connsiteY5" fmla="*/ 97982 h 279948"/>
                <a:gd name="connsiteX6" fmla="*/ 8398 w 638283"/>
                <a:gd name="connsiteY6" fmla="*/ 8398 h 279948"/>
                <a:gd name="connsiteX7" fmla="*/ 8398 w 638283"/>
                <a:gd name="connsiteY7" fmla="*/ 187566 h 279948"/>
                <a:gd name="connsiteX8" fmla="*/ 321941 w 638283"/>
                <a:gd name="connsiteY8" fmla="*/ 277149 h 279948"/>
                <a:gd name="connsiteX9" fmla="*/ 635484 w 638283"/>
                <a:gd name="connsiteY9" fmla="*/ 187566 h 279948"/>
                <a:gd name="connsiteX10" fmla="*/ 635484 w 638283"/>
                <a:gd name="connsiteY10" fmla="*/ 8398 h 279948"/>
                <a:gd name="connsiteX11" fmla="*/ 321941 w 638283"/>
                <a:gd name="connsiteY11" fmla="*/ 97982 h 279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8283" h="279948">
                  <a:moveTo>
                    <a:pt x="545901" y="187566"/>
                  </a:moveTo>
                  <a:cubicBezTo>
                    <a:pt x="532463" y="187566"/>
                    <a:pt x="523505" y="178607"/>
                    <a:pt x="523505" y="165170"/>
                  </a:cubicBezTo>
                  <a:cubicBezTo>
                    <a:pt x="523505" y="151732"/>
                    <a:pt x="532463" y="142774"/>
                    <a:pt x="545901" y="142774"/>
                  </a:cubicBezTo>
                  <a:cubicBezTo>
                    <a:pt x="559338" y="142774"/>
                    <a:pt x="568296" y="151732"/>
                    <a:pt x="568296" y="165170"/>
                  </a:cubicBezTo>
                  <a:cubicBezTo>
                    <a:pt x="568296" y="178607"/>
                    <a:pt x="559338" y="187566"/>
                    <a:pt x="545901" y="187566"/>
                  </a:cubicBezTo>
                  <a:close/>
                  <a:moveTo>
                    <a:pt x="321941" y="97982"/>
                  </a:moveTo>
                  <a:cubicBezTo>
                    <a:pt x="149493" y="97982"/>
                    <a:pt x="8398" y="57669"/>
                    <a:pt x="8398" y="8398"/>
                  </a:cubicBezTo>
                  <a:lnTo>
                    <a:pt x="8398" y="187566"/>
                  </a:lnTo>
                  <a:cubicBezTo>
                    <a:pt x="8398" y="236837"/>
                    <a:pt x="149493" y="277149"/>
                    <a:pt x="321941" y="277149"/>
                  </a:cubicBezTo>
                  <a:cubicBezTo>
                    <a:pt x="494390" y="277149"/>
                    <a:pt x="635484" y="236837"/>
                    <a:pt x="635484" y="187566"/>
                  </a:cubicBezTo>
                  <a:lnTo>
                    <a:pt x="635484" y="8398"/>
                  </a:lnTo>
                  <a:cubicBezTo>
                    <a:pt x="635484" y="57669"/>
                    <a:pt x="494390" y="97982"/>
                    <a:pt x="321941" y="9798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742B0-A2BB-4B31-8F6B-5146B31E69B8}"/>
                </a:ext>
              </a:extLst>
            </p:cNvPr>
            <p:cNvSpPr/>
            <p:nvPr/>
          </p:nvSpPr>
          <p:spPr>
            <a:xfrm>
              <a:off x="2897662" y="3730312"/>
              <a:ext cx="638284" cy="279949"/>
            </a:xfrm>
            <a:custGeom>
              <a:avLst/>
              <a:gdLst>
                <a:gd name="connsiteX0" fmla="*/ 545901 w 638283"/>
                <a:gd name="connsiteY0" fmla="*/ 187566 h 279948"/>
                <a:gd name="connsiteX1" fmla="*/ 523505 w 638283"/>
                <a:gd name="connsiteY1" fmla="*/ 165170 h 279948"/>
                <a:gd name="connsiteX2" fmla="*/ 545901 w 638283"/>
                <a:gd name="connsiteY2" fmla="*/ 142774 h 279948"/>
                <a:gd name="connsiteX3" fmla="*/ 568296 w 638283"/>
                <a:gd name="connsiteY3" fmla="*/ 165170 h 279948"/>
                <a:gd name="connsiteX4" fmla="*/ 545901 w 638283"/>
                <a:gd name="connsiteY4" fmla="*/ 187566 h 279948"/>
                <a:gd name="connsiteX5" fmla="*/ 321941 w 638283"/>
                <a:gd name="connsiteY5" fmla="*/ 97982 h 279948"/>
                <a:gd name="connsiteX6" fmla="*/ 8398 w 638283"/>
                <a:gd name="connsiteY6" fmla="*/ 8398 h 279948"/>
                <a:gd name="connsiteX7" fmla="*/ 8398 w 638283"/>
                <a:gd name="connsiteY7" fmla="*/ 187566 h 279948"/>
                <a:gd name="connsiteX8" fmla="*/ 321941 w 638283"/>
                <a:gd name="connsiteY8" fmla="*/ 277149 h 279948"/>
                <a:gd name="connsiteX9" fmla="*/ 635484 w 638283"/>
                <a:gd name="connsiteY9" fmla="*/ 187566 h 279948"/>
                <a:gd name="connsiteX10" fmla="*/ 635484 w 638283"/>
                <a:gd name="connsiteY10" fmla="*/ 8398 h 279948"/>
                <a:gd name="connsiteX11" fmla="*/ 321941 w 638283"/>
                <a:gd name="connsiteY11" fmla="*/ 97982 h 279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8283" h="279948">
                  <a:moveTo>
                    <a:pt x="545901" y="187566"/>
                  </a:moveTo>
                  <a:cubicBezTo>
                    <a:pt x="532463" y="187566"/>
                    <a:pt x="523505" y="178607"/>
                    <a:pt x="523505" y="165170"/>
                  </a:cubicBezTo>
                  <a:cubicBezTo>
                    <a:pt x="523505" y="151732"/>
                    <a:pt x="532463" y="142774"/>
                    <a:pt x="545901" y="142774"/>
                  </a:cubicBezTo>
                  <a:cubicBezTo>
                    <a:pt x="559338" y="142774"/>
                    <a:pt x="568296" y="151732"/>
                    <a:pt x="568296" y="165170"/>
                  </a:cubicBezTo>
                  <a:cubicBezTo>
                    <a:pt x="568296" y="178607"/>
                    <a:pt x="559338" y="187566"/>
                    <a:pt x="545901" y="187566"/>
                  </a:cubicBezTo>
                  <a:close/>
                  <a:moveTo>
                    <a:pt x="321941" y="97982"/>
                  </a:moveTo>
                  <a:cubicBezTo>
                    <a:pt x="149493" y="97982"/>
                    <a:pt x="8398" y="57670"/>
                    <a:pt x="8398" y="8398"/>
                  </a:cubicBezTo>
                  <a:lnTo>
                    <a:pt x="8398" y="187566"/>
                  </a:lnTo>
                  <a:cubicBezTo>
                    <a:pt x="8398" y="236837"/>
                    <a:pt x="149493" y="277149"/>
                    <a:pt x="321941" y="277149"/>
                  </a:cubicBezTo>
                  <a:cubicBezTo>
                    <a:pt x="494390" y="277149"/>
                    <a:pt x="635484" y="236837"/>
                    <a:pt x="635484" y="187566"/>
                  </a:cubicBezTo>
                  <a:lnTo>
                    <a:pt x="635484" y="8398"/>
                  </a:lnTo>
                  <a:cubicBezTo>
                    <a:pt x="635484" y="57670"/>
                    <a:pt x="494390" y="97982"/>
                    <a:pt x="321941" y="9798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ED7BCA5-5B12-4AF2-86EE-CCDCC4FD6055}"/>
                </a:ext>
              </a:extLst>
            </p:cNvPr>
            <p:cNvSpPr/>
            <p:nvPr/>
          </p:nvSpPr>
          <p:spPr>
            <a:xfrm>
              <a:off x="2897662" y="3954271"/>
              <a:ext cx="638284" cy="279949"/>
            </a:xfrm>
            <a:custGeom>
              <a:avLst/>
              <a:gdLst>
                <a:gd name="connsiteX0" fmla="*/ 545901 w 638283"/>
                <a:gd name="connsiteY0" fmla="*/ 187566 h 279948"/>
                <a:gd name="connsiteX1" fmla="*/ 523505 w 638283"/>
                <a:gd name="connsiteY1" fmla="*/ 165170 h 279948"/>
                <a:gd name="connsiteX2" fmla="*/ 545901 w 638283"/>
                <a:gd name="connsiteY2" fmla="*/ 142774 h 279948"/>
                <a:gd name="connsiteX3" fmla="*/ 568296 w 638283"/>
                <a:gd name="connsiteY3" fmla="*/ 165170 h 279948"/>
                <a:gd name="connsiteX4" fmla="*/ 545901 w 638283"/>
                <a:gd name="connsiteY4" fmla="*/ 187566 h 279948"/>
                <a:gd name="connsiteX5" fmla="*/ 321941 w 638283"/>
                <a:gd name="connsiteY5" fmla="*/ 97982 h 279948"/>
                <a:gd name="connsiteX6" fmla="*/ 8398 w 638283"/>
                <a:gd name="connsiteY6" fmla="*/ 8398 h 279948"/>
                <a:gd name="connsiteX7" fmla="*/ 8398 w 638283"/>
                <a:gd name="connsiteY7" fmla="*/ 187566 h 279948"/>
                <a:gd name="connsiteX8" fmla="*/ 321941 w 638283"/>
                <a:gd name="connsiteY8" fmla="*/ 277149 h 279948"/>
                <a:gd name="connsiteX9" fmla="*/ 635484 w 638283"/>
                <a:gd name="connsiteY9" fmla="*/ 187566 h 279948"/>
                <a:gd name="connsiteX10" fmla="*/ 635484 w 638283"/>
                <a:gd name="connsiteY10" fmla="*/ 8398 h 279948"/>
                <a:gd name="connsiteX11" fmla="*/ 321941 w 638283"/>
                <a:gd name="connsiteY11" fmla="*/ 97982 h 279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38283" h="279948">
                  <a:moveTo>
                    <a:pt x="545901" y="187566"/>
                  </a:moveTo>
                  <a:cubicBezTo>
                    <a:pt x="532463" y="187566"/>
                    <a:pt x="523505" y="178607"/>
                    <a:pt x="523505" y="165170"/>
                  </a:cubicBezTo>
                  <a:cubicBezTo>
                    <a:pt x="523505" y="151732"/>
                    <a:pt x="532463" y="142774"/>
                    <a:pt x="545901" y="142774"/>
                  </a:cubicBezTo>
                  <a:cubicBezTo>
                    <a:pt x="559338" y="142774"/>
                    <a:pt x="568296" y="151732"/>
                    <a:pt x="568296" y="165170"/>
                  </a:cubicBezTo>
                  <a:cubicBezTo>
                    <a:pt x="568296" y="178607"/>
                    <a:pt x="559338" y="187566"/>
                    <a:pt x="545901" y="187566"/>
                  </a:cubicBezTo>
                  <a:close/>
                  <a:moveTo>
                    <a:pt x="321941" y="97982"/>
                  </a:moveTo>
                  <a:cubicBezTo>
                    <a:pt x="149493" y="97982"/>
                    <a:pt x="8398" y="57670"/>
                    <a:pt x="8398" y="8398"/>
                  </a:cubicBezTo>
                  <a:lnTo>
                    <a:pt x="8398" y="187566"/>
                  </a:lnTo>
                  <a:cubicBezTo>
                    <a:pt x="8398" y="236837"/>
                    <a:pt x="149493" y="277149"/>
                    <a:pt x="321941" y="277149"/>
                  </a:cubicBezTo>
                  <a:cubicBezTo>
                    <a:pt x="494390" y="277149"/>
                    <a:pt x="635484" y="236837"/>
                    <a:pt x="635484" y="187566"/>
                  </a:cubicBezTo>
                  <a:lnTo>
                    <a:pt x="635484" y="8398"/>
                  </a:lnTo>
                  <a:cubicBezTo>
                    <a:pt x="635484" y="57670"/>
                    <a:pt x="494390" y="97982"/>
                    <a:pt x="321941" y="9798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0" name="Graphic 13" descr="Server">
            <a:extLst>
              <a:ext uri="{FF2B5EF4-FFF2-40B4-BE49-F238E27FC236}">
                <a16:creationId xmlns:a16="http://schemas.microsoft.com/office/drawing/2014/main" id="{02F9775A-E497-4C2C-98B8-95AEC2F9F155}"/>
              </a:ext>
            </a:extLst>
          </p:cNvPr>
          <p:cNvGrpSpPr/>
          <p:nvPr/>
        </p:nvGrpSpPr>
        <p:grpSpPr>
          <a:xfrm>
            <a:off x="3589338" y="3571609"/>
            <a:ext cx="914400" cy="914400"/>
            <a:chOff x="2832101" y="3418396"/>
            <a:chExt cx="1075004" cy="107500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E9EF2C3-44CD-4258-A1C0-FE4CABAFAE72}"/>
                </a:ext>
              </a:extLst>
            </p:cNvPr>
            <p:cNvSpPr/>
            <p:nvPr/>
          </p:nvSpPr>
          <p:spPr>
            <a:xfrm>
              <a:off x="3326211" y="4158861"/>
              <a:ext cx="78386" cy="100782"/>
            </a:xfrm>
            <a:custGeom>
              <a:avLst/>
              <a:gdLst>
                <a:gd name="connsiteX0" fmla="*/ 9798 w 78385"/>
                <a:gd name="connsiteY0" fmla="*/ 9798 h 100781"/>
                <a:gd name="connsiteX1" fmla="*/ 76986 w 78385"/>
                <a:gd name="connsiteY1" fmla="*/ 9798 h 100781"/>
                <a:gd name="connsiteX2" fmla="*/ 76986 w 78385"/>
                <a:gd name="connsiteY2" fmla="*/ 99382 h 100781"/>
                <a:gd name="connsiteX3" fmla="*/ 9798 w 78385"/>
                <a:gd name="connsiteY3" fmla="*/ 99382 h 10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85" h="100781">
                  <a:moveTo>
                    <a:pt x="9798" y="9798"/>
                  </a:moveTo>
                  <a:lnTo>
                    <a:pt x="76986" y="9798"/>
                  </a:lnTo>
                  <a:lnTo>
                    <a:pt x="76986" y="99382"/>
                  </a:lnTo>
                  <a:lnTo>
                    <a:pt x="9798" y="99382"/>
                  </a:ln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BE2877B-50C0-432B-96FF-34CF8B19A602}"/>
                </a:ext>
              </a:extLst>
            </p:cNvPr>
            <p:cNvSpPr/>
            <p:nvPr/>
          </p:nvSpPr>
          <p:spPr>
            <a:xfrm>
              <a:off x="3326211" y="4293236"/>
              <a:ext cx="78386" cy="78386"/>
            </a:xfrm>
            <a:custGeom>
              <a:avLst/>
              <a:gdLst>
                <a:gd name="connsiteX0" fmla="*/ 9798 w 78385"/>
                <a:gd name="connsiteY0" fmla="*/ 9798 h 78385"/>
                <a:gd name="connsiteX1" fmla="*/ 76986 w 78385"/>
                <a:gd name="connsiteY1" fmla="*/ 9798 h 78385"/>
                <a:gd name="connsiteX2" fmla="*/ 76986 w 78385"/>
                <a:gd name="connsiteY2" fmla="*/ 76986 h 78385"/>
                <a:gd name="connsiteX3" fmla="*/ 9798 w 78385"/>
                <a:gd name="connsiteY3" fmla="*/ 76986 h 78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385" h="78385">
                  <a:moveTo>
                    <a:pt x="9798" y="9798"/>
                  </a:moveTo>
                  <a:lnTo>
                    <a:pt x="76986" y="9798"/>
                  </a:lnTo>
                  <a:lnTo>
                    <a:pt x="76986" y="76986"/>
                  </a:lnTo>
                  <a:lnTo>
                    <a:pt x="9798" y="76986"/>
                  </a:ln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7D1231-7869-4608-AB2F-3B63690FECE9}"/>
                </a:ext>
              </a:extLst>
            </p:cNvPr>
            <p:cNvSpPr/>
            <p:nvPr/>
          </p:nvSpPr>
          <p:spPr>
            <a:xfrm>
              <a:off x="3438190" y="4293236"/>
              <a:ext cx="335939" cy="78386"/>
            </a:xfrm>
            <a:custGeom>
              <a:avLst/>
              <a:gdLst>
                <a:gd name="connsiteX0" fmla="*/ 9798 w 335938"/>
                <a:gd name="connsiteY0" fmla="*/ 9798 h 78385"/>
                <a:gd name="connsiteX1" fmla="*/ 334539 w 335938"/>
                <a:gd name="connsiteY1" fmla="*/ 9798 h 78385"/>
                <a:gd name="connsiteX2" fmla="*/ 334539 w 335938"/>
                <a:gd name="connsiteY2" fmla="*/ 76986 h 78385"/>
                <a:gd name="connsiteX3" fmla="*/ 9798 w 335938"/>
                <a:gd name="connsiteY3" fmla="*/ 76986 h 78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938" h="78385">
                  <a:moveTo>
                    <a:pt x="9798" y="9798"/>
                  </a:moveTo>
                  <a:lnTo>
                    <a:pt x="334539" y="9798"/>
                  </a:lnTo>
                  <a:lnTo>
                    <a:pt x="334539" y="76986"/>
                  </a:lnTo>
                  <a:lnTo>
                    <a:pt x="9798" y="76986"/>
                  </a:ln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36A5D95-612B-4CFF-9832-4516CD39E04D}"/>
                </a:ext>
              </a:extLst>
            </p:cNvPr>
            <p:cNvSpPr/>
            <p:nvPr/>
          </p:nvSpPr>
          <p:spPr>
            <a:xfrm>
              <a:off x="2956678" y="4293236"/>
              <a:ext cx="335939" cy="78386"/>
            </a:xfrm>
            <a:custGeom>
              <a:avLst/>
              <a:gdLst>
                <a:gd name="connsiteX0" fmla="*/ 9798 w 335938"/>
                <a:gd name="connsiteY0" fmla="*/ 9798 h 78385"/>
                <a:gd name="connsiteX1" fmla="*/ 334539 w 335938"/>
                <a:gd name="connsiteY1" fmla="*/ 9798 h 78385"/>
                <a:gd name="connsiteX2" fmla="*/ 334539 w 335938"/>
                <a:gd name="connsiteY2" fmla="*/ 76986 h 78385"/>
                <a:gd name="connsiteX3" fmla="*/ 9798 w 335938"/>
                <a:gd name="connsiteY3" fmla="*/ 76986 h 78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938" h="78385">
                  <a:moveTo>
                    <a:pt x="9798" y="9798"/>
                  </a:moveTo>
                  <a:lnTo>
                    <a:pt x="334539" y="9798"/>
                  </a:lnTo>
                  <a:lnTo>
                    <a:pt x="334539" y="76986"/>
                  </a:lnTo>
                  <a:lnTo>
                    <a:pt x="9798" y="76986"/>
                  </a:ln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83AFB2E-4E8E-472C-98DB-07307DBE5012}"/>
                </a:ext>
              </a:extLst>
            </p:cNvPr>
            <p:cNvSpPr/>
            <p:nvPr/>
          </p:nvSpPr>
          <p:spPr>
            <a:xfrm>
              <a:off x="3001470" y="3979694"/>
              <a:ext cx="727867" cy="190365"/>
            </a:xfrm>
            <a:custGeom>
              <a:avLst/>
              <a:gdLst>
                <a:gd name="connsiteX0" fmla="*/ 686379 w 727867"/>
                <a:gd name="connsiteY0" fmla="*/ 9798 h 190365"/>
                <a:gd name="connsiteX1" fmla="*/ 49887 w 727867"/>
                <a:gd name="connsiteY1" fmla="*/ 9798 h 190365"/>
                <a:gd name="connsiteX2" fmla="*/ 9798 w 727867"/>
                <a:gd name="connsiteY2" fmla="*/ 49887 h 190365"/>
                <a:gd name="connsiteX3" fmla="*/ 9798 w 727867"/>
                <a:gd name="connsiteY3" fmla="*/ 148877 h 190365"/>
                <a:gd name="connsiteX4" fmla="*/ 49887 w 727867"/>
                <a:gd name="connsiteY4" fmla="*/ 188966 h 190365"/>
                <a:gd name="connsiteX5" fmla="*/ 686379 w 727867"/>
                <a:gd name="connsiteY5" fmla="*/ 188966 h 190365"/>
                <a:gd name="connsiteX6" fmla="*/ 726468 w 727867"/>
                <a:gd name="connsiteY6" fmla="*/ 148877 h 190365"/>
                <a:gd name="connsiteX7" fmla="*/ 726468 w 727867"/>
                <a:gd name="connsiteY7" fmla="*/ 49887 h 190365"/>
                <a:gd name="connsiteX8" fmla="*/ 686379 w 727867"/>
                <a:gd name="connsiteY8" fmla="*/ 9798 h 190365"/>
                <a:gd name="connsiteX9" fmla="*/ 121778 w 727867"/>
                <a:gd name="connsiteY9" fmla="*/ 121778 h 190365"/>
                <a:gd name="connsiteX10" fmla="*/ 99382 w 727867"/>
                <a:gd name="connsiteY10" fmla="*/ 99382 h 190365"/>
                <a:gd name="connsiteX11" fmla="*/ 121778 w 727867"/>
                <a:gd name="connsiteY11" fmla="*/ 76986 h 190365"/>
                <a:gd name="connsiteX12" fmla="*/ 144174 w 727867"/>
                <a:gd name="connsiteY12" fmla="*/ 99382 h 190365"/>
                <a:gd name="connsiteX13" fmla="*/ 121778 w 727867"/>
                <a:gd name="connsiteY13" fmla="*/ 121778 h 190365"/>
                <a:gd name="connsiteX14" fmla="*/ 233757 w 727867"/>
                <a:gd name="connsiteY14" fmla="*/ 121778 h 190365"/>
                <a:gd name="connsiteX15" fmla="*/ 211361 w 727867"/>
                <a:gd name="connsiteY15" fmla="*/ 99382 h 190365"/>
                <a:gd name="connsiteX16" fmla="*/ 233757 w 727867"/>
                <a:gd name="connsiteY16" fmla="*/ 76986 h 190365"/>
                <a:gd name="connsiteX17" fmla="*/ 256153 w 727867"/>
                <a:gd name="connsiteY17" fmla="*/ 99382 h 190365"/>
                <a:gd name="connsiteX18" fmla="*/ 233757 w 727867"/>
                <a:gd name="connsiteY18" fmla="*/ 121778 h 190365"/>
                <a:gd name="connsiteX19" fmla="*/ 345737 w 727867"/>
                <a:gd name="connsiteY19" fmla="*/ 121778 h 190365"/>
                <a:gd name="connsiteX20" fmla="*/ 323341 w 727867"/>
                <a:gd name="connsiteY20" fmla="*/ 99382 h 190365"/>
                <a:gd name="connsiteX21" fmla="*/ 345737 w 727867"/>
                <a:gd name="connsiteY21" fmla="*/ 76986 h 190365"/>
                <a:gd name="connsiteX22" fmla="*/ 368133 w 727867"/>
                <a:gd name="connsiteY22" fmla="*/ 99382 h 190365"/>
                <a:gd name="connsiteX23" fmla="*/ 345737 w 727867"/>
                <a:gd name="connsiteY23" fmla="*/ 121778 h 19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7867" h="190365">
                  <a:moveTo>
                    <a:pt x="686379" y="9798"/>
                  </a:moveTo>
                  <a:lnTo>
                    <a:pt x="49887" y="9798"/>
                  </a:lnTo>
                  <a:cubicBezTo>
                    <a:pt x="27746" y="9798"/>
                    <a:pt x="9798" y="27746"/>
                    <a:pt x="9798" y="49887"/>
                  </a:cubicBezTo>
                  <a:lnTo>
                    <a:pt x="9798" y="148877"/>
                  </a:lnTo>
                  <a:cubicBezTo>
                    <a:pt x="9798" y="171017"/>
                    <a:pt x="27746" y="188966"/>
                    <a:pt x="49887" y="188966"/>
                  </a:cubicBezTo>
                  <a:lnTo>
                    <a:pt x="686379" y="188966"/>
                  </a:lnTo>
                  <a:cubicBezTo>
                    <a:pt x="708520" y="188966"/>
                    <a:pt x="726468" y="171017"/>
                    <a:pt x="726468" y="148877"/>
                  </a:cubicBezTo>
                  <a:lnTo>
                    <a:pt x="726468" y="49887"/>
                  </a:lnTo>
                  <a:cubicBezTo>
                    <a:pt x="726468" y="27746"/>
                    <a:pt x="708520" y="9798"/>
                    <a:pt x="686379" y="9798"/>
                  </a:cubicBezTo>
                  <a:close/>
                  <a:moveTo>
                    <a:pt x="121778" y="121778"/>
                  </a:moveTo>
                  <a:cubicBezTo>
                    <a:pt x="109409" y="121778"/>
                    <a:pt x="99382" y="111751"/>
                    <a:pt x="99382" y="99382"/>
                  </a:cubicBezTo>
                  <a:cubicBezTo>
                    <a:pt x="99382" y="87013"/>
                    <a:pt x="109409" y="76986"/>
                    <a:pt x="121778" y="76986"/>
                  </a:cubicBezTo>
                  <a:cubicBezTo>
                    <a:pt x="134147" y="76986"/>
                    <a:pt x="144174" y="87013"/>
                    <a:pt x="144174" y="99382"/>
                  </a:cubicBezTo>
                  <a:cubicBezTo>
                    <a:pt x="144174" y="111751"/>
                    <a:pt x="134147" y="121778"/>
                    <a:pt x="121778" y="121778"/>
                  </a:cubicBezTo>
                  <a:close/>
                  <a:moveTo>
                    <a:pt x="233757" y="121778"/>
                  </a:moveTo>
                  <a:cubicBezTo>
                    <a:pt x="221388" y="121778"/>
                    <a:pt x="211361" y="111751"/>
                    <a:pt x="211361" y="99382"/>
                  </a:cubicBezTo>
                  <a:cubicBezTo>
                    <a:pt x="211361" y="87013"/>
                    <a:pt x="221388" y="76986"/>
                    <a:pt x="233757" y="76986"/>
                  </a:cubicBezTo>
                  <a:cubicBezTo>
                    <a:pt x="246127" y="76986"/>
                    <a:pt x="256153" y="87013"/>
                    <a:pt x="256153" y="99382"/>
                  </a:cubicBezTo>
                  <a:cubicBezTo>
                    <a:pt x="256153" y="111751"/>
                    <a:pt x="246127" y="121778"/>
                    <a:pt x="233757" y="121778"/>
                  </a:cubicBezTo>
                  <a:close/>
                  <a:moveTo>
                    <a:pt x="345737" y="121778"/>
                  </a:moveTo>
                  <a:cubicBezTo>
                    <a:pt x="333368" y="121778"/>
                    <a:pt x="323341" y="111751"/>
                    <a:pt x="323341" y="99382"/>
                  </a:cubicBezTo>
                  <a:cubicBezTo>
                    <a:pt x="323341" y="87013"/>
                    <a:pt x="333368" y="76986"/>
                    <a:pt x="345737" y="76986"/>
                  </a:cubicBezTo>
                  <a:cubicBezTo>
                    <a:pt x="358106" y="76986"/>
                    <a:pt x="368133" y="87013"/>
                    <a:pt x="368133" y="99382"/>
                  </a:cubicBezTo>
                  <a:cubicBezTo>
                    <a:pt x="368133" y="111751"/>
                    <a:pt x="358106" y="121778"/>
                    <a:pt x="345737" y="121778"/>
                  </a:cubicBez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2AA85A8-143D-40C4-B6F7-C43EC20F9310}"/>
                </a:ext>
              </a:extLst>
            </p:cNvPr>
            <p:cNvSpPr/>
            <p:nvPr/>
          </p:nvSpPr>
          <p:spPr>
            <a:xfrm>
              <a:off x="3001470" y="3755734"/>
              <a:ext cx="727867" cy="190365"/>
            </a:xfrm>
            <a:custGeom>
              <a:avLst/>
              <a:gdLst>
                <a:gd name="connsiteX0" fmla="*/ 686379 w 727867"/>
                <a:gd name="connsiteY0" fmla="*/ 9798 h 190365"/>
                <a:gd name="connsiteX1" fmla="*/ 49887 w 727867"/>
                <a:gd name="connsiteY1" fmla="*/ 9798 h 190365"/>
                <a:gd name="connsiteX2" fmla="*/ 9798 w 727867"/>
                <a:gd name="connsiteY2" fmla="*/ 49887 h 190365"/>
                <a:gd name="connsiteX3" fmla="*/ 9798 w 727867"/>
                <a:gd name="connsiteY3" fmla="*/ 148877 h 190365"/>
                <a:gd name="connsiteX4" fmla="*/ 49887 w 727867"/>
                <a:gd name="connsiteY4" fmla="*/ 188966 h 190365"/>
                <a:gd name="connsiteX5" fmla="*/ 686379 w 727867"/>
                <a:gd name="connsiteY5" fmla="*/ 188966 h 190365"/>
                <a:gd name="connsiteX6" fmla="*/ 726468 w 727867"/>
                <a:gd name="connsiteY6" fmla="*/ 148877 h 190365"/>
                <a:gd name="connsiteX7" fmla="*/ 726468 w 727867"/>
                <a:gd name="connsiteY7" fmla="*/ 49887 h 190365"/>
                <a:gd name="connsiteX8" fmla="*/ 686379 w 727867"/>
                <a:gd name="connsiteY8" fmla="*/ 9798 h 190365"/>
                <a:gd name="connsiteX9" fmla="*/ 121778 w 727867"/>
                <a:gd name="connsiteY9" fmla="*/ 121778 h 190365"/>
                <a:gd name="connsiteX10" fmla="*/ 99382 w 727867"/>
                <a:gd name="connsiteY10" fmla="*/ 99382 h 190365"/>
                <a:gd name="connsiteX11" fmla="*/ 121778 w 727867"/>
                <a:gd name="connsiteY11" fmla="*/ 76986 h 190365"/>
                <a:gd name="connsiteX12" fmla="*/ 144174 w 727867"/>
                <a:gd name="connsiteY12" fmla="*/ 99382 h 190365"/>
                <a:gd name="connsiteX13" fmla="*/ 121778 w 727867"/>
                <a:gd name="connsiteY13" fmla="*/ 121778 h 190365"/>
                <a:gd name="connsiteX14" fmla="*/ 233757 w 727867"/>
                <a:gd name="connsiteY14" fmla="*/ 121778 h 190365"/>
                <a:gd name="connsiteX15" fmla="*/ 211361 w 727867"/>
                <a:gd name="connsiteY15" fmla="*/ 99382 h 190365"/>
                <a:gd name="connsiteX16" fmla="*/ 233757 w 727867"/>
                <a:gd name="connsiteY16" fmla="*/ 76986 h 190365"/>
                <a:gd name="connsiteX17" fmla="*/ 256153 w 727867"/>
                <a:gd name="connsiteY17" fmla="*/ 99382 h 190365"/>
                <a:gd name="connsiteX18" fmla="*/ 233757 w 727867"/>
                <a:gd name="connsiteY18" fmla="*/ 121778 h 190365"/>
                <a:gd name="connsiteX19" fmla="*/ 345737 w 727867"/>
                <a:gd name="connsiteY19" fmla="*/ 121778 h 190365"/>
                <a:gd name="connsiteX20" fmla="*/ 323341 w 727867"/>
                <a:gd name="connsiteY20" fmla="*/ 99382 h 190365"/>
                <a:gd name="connsiteX21" fmla="*/ 345737 w 727867"/>
                <a:gd name="connsiteY21" fmla="*/ 76986 h 190365"/>
                <a:gd name="connsiteX22" fmla="*/ 368133 w 727867"/>
                <a:gd name="connsiteY22" fmla="*/ 99382 h 190365"/>
                <a:gd name="connsiteX23" fmla="*/ 345737 w 727867"/>
                <a:gd name="connsiteY23" fmla="*/ 121778 h 19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7867" h="190365">
                  <a:moveTo>
                    <a:pt x="686379" y="9798"/>
                  </a:moveTo>
                  <a:lnTo>
                    <a:pt x="49887" y="9798"/>
                  </a:lnTo>
                  <a:cubicBezTo>
                    <a:pt x="27746" y="9798"/>
                    <a:pt x="9798" y="27746"/>
                    <a:pt x="9798" y="49887"/>
                  </a:cubicBezTo>
                  <a:lnTo>
                    <a:pt x="9798" y="148877"/>
                  </a:lnTo>
                  <a:cubicBezTo>
                    <a:pt x="9798" y="171017"/>
                    <a:pt x="27746" y="188966"/>
                    <a:pt x="49887" y="188966"/>
                  </a:cubicBezTo>
                  <a:lnTo>
                    <a:pt x="686379" y="188966"/>
                  </a:lnTo>
                  <a:cubicBezTo>
                    <a:pt x="708520" y="188966"/>
                    <a:pt x="726468" y="171017"/>
                    <a:pt x="726468" y="148877"/>
                  </a:cubicBezTo>
                  <a:lnTo>
                    <a:pt x="726468" y="49887"/>
                  </a:lnTo>
                  <a:cubicBezTo>
                    <a:pt x="726468" y="27746"/>
                    <a:pt x="708520" y="9798"/>
                    <a:pt x="686379" y="9798"/>
                  </a:cubicBezTo>
                  <a:close/>
                  <a:moveTo>
                    <a:pt x="121778" y="121778"/>
                  </a:moveTo>
                  <a:cubicBezTo>
                    <a:pt x="109409" y="121778"/>
                    <a:pt x="99382" y="111751"/>
                    <a:pt x="99382" y="99382"/>
                  </a:cubicBezTo>
                  <a:cubicBezTo>
                    <a:pt x="99382" y="87013"/>
                    <a:pt x="109409" y="76986"/>
                    <a:pt x="121778" y="76986"/>
                  </a:cubicBezTo>
                  <a:cubicBezTo>
                    <a:pt x="134147" y="76986"/>
                    <a:pt x="144174" y="87013"/>
                    <a:pt x="144174" y="99382"/>
                  </a:cubicBezTo>
                  <a:cubicBezTo>
                    <a:pt x="144174" y="111751"/>
                    <a:pt x="134147" y="121778"/>
                    <a:pt x="121778" y="121778"/>
                  </a:cubicBezTo>
                  <a:close/>
                  <a:moveTo>
                    <a:pt x="233757" y="121778"/>
                  </a:moveTo>
                  <a:cubicBezTo>
                    <a:pt x="221388" y="121778"/>
                    <a:pt x="211361" y="111751"/>
                    <a:pt x="211361" y="99382"/>
                  </a:cubicBezTo>
                  <a:cubicBezTo>
                    <a:pt x="211361" y="87013"/>
                    <a:pt x="221388" y="76986"/>
                    <a:pt x="233757" y="76986"/>
                  </a:cubicBezTo>
                  <a:cubicBezTo>
                    <a:pt x="246127" y="76986"/>
                    <a:pt x="256153" y="87013"/>
                    <a:pt x="256153" y="99382"/>
                  </a:cubicBezTo>
                  <a:cubicBezTo>
                    <a:pt x="256153" y="111751"/>
                    <a:pt x="246127" y="121778"/>
                    <a:pt x="233757" y="121778"/>
                  </a:cubicBezTo>
                  <a:close/>
                  <a:moveTo>
                    <a:pt x="345737" y="121778"/>
                  </a:moveTo>
                  <a:cubicBezTo>
                    <a:pt x="333368" y="121778"/>
                    <a:pt x="323341" y="111751"/>
                    <a:pt x="323341" y="99382"/>
                  </a:cubicBezTo>
                  <a:cubicBezTo>
                    <a:pt x="323341" y="87013"/>
                    <a:pt x="333368" y="76986"/>
                    <a:pt x="345737" y="76986"/>
                  </a:cubicBezTo>
                  <a:cubicBezTo>
                    <a:pt x="358106" y="76986"/>
                    <a:pt x="368133" y="87013"/>
                    <a:pt x="368133" y="99382"/>
                  </a:cubicBezTo>
                  <a:cubicBezTo>
                    <a:pt x="368133" y="111751"/>
                    <a:pt x="358106" y="121778"/>
                    <a:pt x="345737" y="121778"/>
                  </a:cubicBez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CC2BBC5-9F54-4FD7-8460-80BCC052FEB3}"/>
                </a:ext>
              </a:extLst>
            </p:cNvPr>
            <p:cNvSpPr/>
            <p:nvPr/>
          </p:nvSpPr>
          <p:spPr>
            <a:xfrm>
              <a:off x="3001470" y="3531775"/>
              <a:ext cx="727867" cy="190365"/>
            </a:xfrm>
            <a:custGeom>
              <a:avLst/>
              <a:gdLst>
                <a:gd name="connsiteX0" fmla="*/ 686379 w 727867"/>
                <a:gd name="connsiteY0" fmla="*/ 9798 h 190365"/>
                <a:gd name="connsiteX1" fmla="*/ 49887 w 727867"/>
                <a:gd name="connsiteY1" fmla="*/ 9798 h 190365"/>
                <a:gd name="connsiteX2" fmla="*/ 9798 w 727867"/>
                <a:gd name="connsiteY2" fmla="*/ 49887 h 190365"/>
                <a:gd name="connsiteX3" fmla="*/ 9798 w 727867"/>
                <a:gd name="connsiteY3" fmla="*/ 148877 h 190365"/>
                <a:gd name="connsiteX4" fmla="*/ 49887 w 727867"/>
                <a:gd name="connsiteY4" fmla="*/ 188966 h 190365"/>
                <a:gd name="connsiteX5" fmla="*/ 686379 w 727867"/>
                <a:gd name="connsiteY5" fmla="*/ 188966 h 190365"/>
                <a:gd name="connsiteX6" fmla="*/ 726468 w 727867"/>
                <a:gd name="connsiteY6" fmla="*/ 148877 h 190365"/>
                <a:gd name="connsiteX7" fmla="*/ 726468 w 727867"/>
                <a:gd name="connsiteY7" fmla="*/ 49887 h 190365"/>
                <a:gd name="connsiteX8" fmla="*/ 686379 w 727867"/>
                <a:gd name="connsiteY8" fmla="*/ 9798 h 190365"/>
                <a:gd name="connsiteX9" fmla="*/ 121778 w 727867"/>
                <a:gd name="connsiteY9" fmla="*/ 121778 h 190365"/>
                <a:gd name="connsiteX10" fmla="*/ 99382 w 727867"/>
                <a:gd name="connsiteY10" fmla="*/ 99382 h 190365"/>
                <a:gd name="connsiteX11" fmla="*/ 121778 w 727867"/>
                <a:gd name="connsiteY11" fmla="*/ 76986 h 190365"/>
                <a:gd name="connsiteX12" fmla="*/ 144174 w 727867"/>
                <a:gd name="connsiteY12" fmla="*/ 99382 h 190365"/>
                <a:gd name="connsiteX13" fmla="*/ 121778 w 727867"/>
                <a:gd name="connsiteY13" fmla="*/ 121778 h 190365"/>
                <a:gd name="connsiteX14" fmla="*/ 233757 w 727867"/>
                <a:gd name="connsiteY14" fmla="*/ 121778 h 190365"/>
                <a:gd name="connsiteX15" fmla="*/ 211361 w 727867"/>
                <a:gd name="connsiteY15" fmla="*/ 99382 h 190365"/>
                <a:gd name="connsiteX16" fmla="*/ 233757 w 727867"/>
                <a:gd name="connsiteY16" fmla="*/ 76986 h 190365"/>
                <a:gd name="connsiteX17" fmla="*/ 256153 w 727867"/>
                <a:gd name="connsiteY17" fmla="*/ 99382 h 190365"/>
                <a:gd name="connsiteX18" fmla="*/ 233757 w 727867"/>
                <a:gd name="connsiteY18" fmla="*/ 121778 h 190365"/>
                <a:gd name="connsiteX19" fmla="*/ 345737 w 727867"/>
                <a:gd name="connsiteY19" fmla="*/ 121778 h 190365"/>
                <a:gd name="connsiteX20" fmla="*/ 323341 w 727867"/>
                <a:gd name="connsiteY20" fmla="*/ 99382 h 190365"/>
                <a:gd name="connsiteX21" fmla="*/ 345737 w 727867"/>
                <a:gd name="connsiteY21" fmla="*/ 76986 h 190365"/>
                <a:gd name="connsiteX22" fmla="*/ 368133 w 727867"/>
                <a:gd name="connsiteY22" fmla="*/ 99382 h 190365"/>
                <a:gd name="connsiteX23" fmla="*/ 345737 w 727867"/>
                <a:gd name="connsiteY23" fmla="*/ 121778 h 19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27867" h="190365">
                  <a:moveTo>
                    <a:pt x="686379" y="9798"/>
                  </a:moveTo>
                  <a:lnTo>
                    <a:pt x="49887" y="9798"/>
                  </a:lnTo>
                  <a:cubicBezTo>
                    <a:pt x="27746" y="9798"/>
                    <a:pt x="9798" y="27746"/>
                    <a:pt x="9798" y="49887"/>
                  </a:cubicBezTo>
                  <a:lnTo>
                    <a:pt x="9798" y="148877"/>
                  </a:lnTo>
                  <a:cubicBezTo>
                    <a:pt x="9798" y="171017"/>
                    <a:pt x="27746" y="188966"/>
                    <a:pt x="49887" y="188966"/>
                  </a:cubicBezTo>
                  <a:lnTo>
                    <a:pt x="686379" y="188966"/>
                  </a:lnTo>
                  <a:cubicBezTo>
                    <a:pt x="708520" y="188966"/>
                    <a:pt x="726468" y="171017"/>
                    <a:pt x="726468" y="148877"/>
                  </a:cubicBezTo>
                  <a:lnTo>
                    <a:pt x="726468" y="49887"/>
                  </a:lnTo>
                  <a:cubicBezTo>
                    <a:pt x="726468" y="27746"/>
                    <a:pt x="708520" y="9798"/>
                    <a:pt x="686379" y="9798"/>
                  </a:cubicBezTo>
                  <a:close/>
                  <a:moveTo>
                    <a:pt x="121778" y="121778"/>
                  </a:moveTo>
                  <a:cubicBezTo>
                    <a:pt x="109409" y="121778"/>
                    <a:pt x="99382" y="111751"/>
                    <a:pt x="99382" y="99382"/>
                  </a:cubicBezTo>
                  <a:cubicBezTo>
                    <a:pt x="99382" y="87013"/>
                    <a:pt x="109409" y="76986"/>
                    <a:pt x="121778" y="76986"/>
                  </a:cubicBezTo>
                  <a:cubicBezTo>
                    <a:pt x="134147" y="76986"/>
                    <a:pt x="144174" y="87013"/>
                    <a:pt x="144174" y="99382"/>
                  </a:cubicBezTo>
                  <a:cubicBezTo>
                    <a:pt x="144174" y="111751"/>
                    <a:pt x="134147" y="121778"/>
                    <a:pt x="121778" y="121778"/>
                  </a:cubicBezTo>
                  <a:close/>
                  <a:moveTo>
                    <a:pt x="233757" y="121778"/>
                  </a:moveTo>
                  <a:cubicBezTo>
                    <a:pt x="221388" y="121778"/>
                    <a:pt x="211361" y="111751"/>
                    <a:pt x="211361" y="99382"/>
                  </a:cubicBezTo>
                  <a:cubicBezTo>
                    <a:pt x="211361" y="87013"/>
                    <a:pt x="221388" y="76986"/>
                    <a:pt x="233757" y="76986"/>
                  </a:cubicBezTo>
                  <a:cubicBezTo>
                    <a:pt x="246127" y="76986"/>
                    <a:pt x="256153" y="87013"/>
                    <a:pt x="256153" y="99382"/>
                  </a:cubicBezTo>
                  <a:cubicBezTo>
                    <a:pt x="256153" y="111751"/>
                    <a:pt x="246127" y="121778"/>
                    <a:pt x="233757" y="121778"/>
                  </a:cubicBezTo>
                  <a:close/>
                  <a:moveTo>
                    <a:pt x="345737" y="121778"/>
                  </a:moveTo>
                  <a:cubicBezTo>
                    <a:pt x="333368" y="121778"/>
                    <a:pt x="323341" y="111751"/>
                    <a:pt x="323341" y="99382"/>
                  </a:cubicBezTo>
                  <a:cubicBezTo>
                    <a:pt x="323341" y="87013"/>
                    <a:pt x="333368" y="76986"/>
                    <a:pt x="345737" y="76986"/>
                  </a:cubicBezTo>
                  <a:cubicBezTo>
                    <a:pt x="358106" y="76986"/>
                    <a:pt x="368133" y="87013"/>
                    <a:pt x="368133" y="99382"/>
                  </a:cubicBezTo>
                  <a:cubicBezTo>
                    <a:pt x="368133" y="111751"/>
                    <a:pt x="358106" y="121778"/>
                    <a:pt x="345737" y="121778"/>
                  </a:cubicBezTo>
                  <a:close/>
                </a:path>
              </a:pathLst>
            </a:custGeom>
            <a:solidFill>
              <a:srgbClr val="000000"/>
            </a:solidFill>
            <a:ln w="11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4E2520-FC6D-49FF-AE01-3468AC0485B1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6096000" y="2214475"/>
            <a:ext cx="9704" cy="414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2D5001B-6499-45BA-BF35-3709BDCF1A40}"/>
              </a:ext>
            </a:extLst>
          </p:cNvPr>
          <p:cNvCxnSpPr>
            <a:cxnSpLocks/>
            <a:stCxn id="4" idx="7"/>
            <a:endCxn id="9" idx="1"/>
          </p:cNvCxnSpPr>
          <p:nvPr/>
        </p:nvCxnSpPr>
        <p:spPr>
          <a:xfrm flipV="1">
            <a:off x="6543890" y="2311096"/>
            <a:ext cx="1211046" cy="503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9BF6D65-2315-416E-B9D5-E7FBAC71DA61}"/>
              </a:ext>
            </a:extLst>
          </p:cNvPr>
          <p:cNvCxnSpPr>
            <a:stCxn id="4" idx="5"/>
            <a:endCxn id="10" idx="1"/>
          </p:cNvCxnSpPr>
          <p:nvPr/>
        </p:nvCxnSpPr>
        <p:spPr>
          <a:xfrm>
            <a:off x="6543890" y="3710422"/>
            <a:ext cx="1044555" cy="339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B32426-BDD8-4C9D-B99F-F9A56EBC9766}"/>
              </a:ext>
            </a:extLst>
          </p:cNvPr>
          <p:cNvCxnSpPr>
            <a:cxnSpLocks/>
            <a:stCxn id="4" idx="4"/>
            <a:endCxn id="7" idx="0"/>
          </p:cNvCxnSpPr>
          <p:nvPr/>
        </p:nvCxnSpPr>
        <p:spPr>
          <a:xfrm flipH="1">
            <a:off x="6095999" y="3895944"/>
            <a:ext cx="1" cy="451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5BB490-C2AD-4F7F-A585-90CF45997EB6}"/>
              </a:ext>
            </a:extLst>
          </p:cNvPr>
          <p:cNvCxnSpPr>
            <a:stCxn id="4" idx="1"/>
            <a:endCxn id="8" idx="3"/>
          </p:cNvCxnSpPr>
          <p:nvPr/>
        </p:nvCxnSpPr>
        <p:spPr>
          <a:xfrm flipH="1" flipV="1">
            <a:off x="4323121" y="2214476"/>
            <a:ext cx="1324988" cy="600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87885AD-5336-4D6F-83C8-E21CF2E4D99D}"/>
              </a:ext>
            </a:extLst>
          </p:cNvPr>
          <p:cNvCxnSpPr>
            <a:stCxn id="4" idx="2"/>
            <a:endCxn id="27" idx="0"/>
          </p:cNvCxnSpPr>
          <p:nvPr/>
        </p:nvCxnSpPr>
        <p:spPr>
          <a:xfrm flipH="1">
            <a:off x="4317239" y="3262532"/>
            <a:ext cx="1145348" cy="413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F05300B0-AED5-41D6-9A8E-13622F4059A5}"/>
              </a:ext>
            </a:extLst>
          </p:cNvPr>
          <p:cNvCxnSpPr>
            <a:cxnSpLocks/>
            <a:stCxn id="26" idx="3"/>
            <a:endCxn id="18" idx="9"/>
          </p:cNvCxnSpPr>
          <p:nvPr/>
        </p:nvCxnSpPr>
        <p:spPr>
          <a:xfrm flipH="1">
            <a:off x="2949012" y="3985184"/>
            <a:ext cx="792726" cy="447071"/>
          </a:xfrm>
          <a:prstGeom prst="bentConnector3">
            <a:avLst>
              <a:gd name="adj1" fmla="val 4550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8C16FB9-EF98-48C9-BF4A-3B375C5CE500}"/>
              </a:ext>
            </a:extLst>
          </p:cNvPr>
          <p:cNvSpPr txBox="1"/>
          <p:nvPr/>
        </p:nvSpPr>
        <p:spPr>
          <a:xfrm>
            <a:off x="7732523" y="255922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Client 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AB1FE8-B9AA-461B-90B2-FE4B7B064004}"/>
              </a:ext>
            </a:extLst>
          </p:cNvPr>
          <p:cNvSpPr txBox="1"/>
          <p:nvPr/>
        </p:nvSpPr>
        <p:spPr>
          <a:xfrm>
            <a:off x="4946234" y="4497785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Client 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688CF1-0A87-48A3-8382-0FDC8239361D}"/>
              </a:ext>
            </a:extLst>
          </p:cNvPr>
          <p:cNvSpPr txBox="1"/>
          <p:nvPr/>
        </p:nvSpPr>
        <p:spPr>
          <a:xfrm>
            <a:off x="7527073" y="4289161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Client 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38853C-5D58-4F23-BFC5-940C5078DFEB}"/>
              </a:ext>
            </a:extLst>
          </p:cNvPr>
          <p:cNvSpPr txBox="1"/>
          <p:nvPr/>
        </p:nvSpPr>
        <p:spPr>
          <a:xfrm>
            <a:off x="6386567" y="1556883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Client 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3EC28A-73DF-4A99-8D77-7FBC7315DD70}"/>
              </a:ext>
            </a:extLst>
          </p:cNvPr>
          <p:cNvSpPr txBox="1"/>
          <p:nvPr/>
        </p:nvSpPr>
        <p:spPr>
          <a:xfrm>
            <a:off x="3502812" y="2489340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Client 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0A4576-3C48-45A1-AA2B-EE18796F7C8E}"/>
              </a:ext>
            </a:extLst>
          </p:cNvPr>
          <p:cNvSpPr txBox="1"/>
          <p:nvPr/>
        </p:nvSpPr>
        <p:spPr>
          <a:xfrm>
            <a:off x="1876590" y="4657445"/>
            <a:ext cx="1771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Auxiliary storage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7C01D0-28C4-4A3A-ABE8-AC39682D3391}"/>
              </a:ext>
            </a:extLst>
          </p:cNvPr>
          <p:cNvSpPr txBox="1"/>
          <p:nvPr/>
        </p:nvSpPr>
        <p:spPr>
          <a:xfrm>
            <a:off x="3627515" y="4403618"/>
            <a:ext cx="790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Server</a:t>
            </a:r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ADB3B8EC-46B5-43F9-9E96-31DB44A924EE}"/>
              </a:ext>
            </a:extLst>
          </p:cNvPr>
          <p:cNvSpPr/>
          <p:nvPr/>
        </p:nvSpPr>
        <p:spPr>
          <a:xfrm rot="20091095">
            <a:off x="6827683" y="2394970"/>
            <a:ext cx="371475" cy="160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D5CBF413-3654-4219-A9D8-92C668B47FD8}"/>
              </a:ext>
            </a:extLst>
          </p:cNvPr>
          <p:cNvSpPr/>
          <p:nvPr/>
        </p:nvSpPr>
        <p:spPr>
          <a:xfrm rot="9301303">
            <a:off x="6928700" y="2673908"/>
            <a:ext cx="371475" cy="160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7A6DDD-297B-4789-A728-83A24B22C8A7}"/>
              </a:ext>
            </a:extLst>
          </p:cNvPr>
          <p:cNvSpPr txBox="1"/>
          <p:nvPr/>
        </p:nvSpPr>
        <p:spPr>
          <a:xfrm rot="20190889">
            <a:off x="6240101" y="2140662"/>
            <a:ext cx="1483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Response from server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265A9A-2E70-4B6A-BC93-8DF97FDC9357}"/>
              </a:ext>
            </a:extLst>
          </p:cNvPr>
          <p:cNvSpPr txBox="1"/>
          <p:nvPr/>
        </p:nvSpPr>
        <p:spPr>
          <a:xfrm rot="1524237">
            <a:off x="4128128" y="2608167"/>
            <a:ext cx="1483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Response from server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2A04664C-4B31-4BE8-800F-AE2DCD27FFA9}"/>
              </a:ext>
            </a:extLst>
          </p:cNvPr>
          <p:cNvSpPr/>
          <p:nvPr/>
        </p:nvSpPr>
        <p:spPr>
          <a:xfrm rot="12325030">
            <a:off x="4820799" y="2572415"/>
            <a:ext cx="371475" cy="160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B0EA797B-76BD-411A-82BD-195401FE7E1C}"/>
              </a:ext>
            </a:extLst>
          </p:cNvPr>
          <p:cNvSpPr/>
          <p:nvPr/>
        </p:nvSpPr>
        <p:spPr>
          <a:xfrm rot="1526027">
            <a:off x="4973728" y="2365451"/>
            <a:ext cx="371475" cy="160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99B0632A-BDFC-4E09-AF23-F927E8CFCDE3}"/>
              </a:ext>
            </a:extLst>
          </p:cNvPr>
          <p:cNvSpPr/>
          <p:nvPr/>
        </p:nvSpPr>
        <p:spPr>
          <a:xfrm rot="20375621">
            <a:off x="4737207" y="3248868"/>
            <a:ext cx="371475" cy="160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3719BC0C-3112-4F67-8740-4C75065749F1}"/>
              </a:ext>
            </a:extLst>
          </p:cNvPr>
          <p:cNvSpPr/>
          <p:nvPr/>
        </p:nvSpPr>
        <p:spPr>
          <a:xfrm rot="9535474">
            <a:off x="4803839" y="3504937"/>
            <a:ext cx="371475" cy="16087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FD99E7-827A-492A-A581-B0266900AD25}"/>
              </a:ext>
            </a:extLst>
          </p:cNvPr>
          <p:cNvSpPr txBox="1"/>
          <p:nvPr/>
        </p:nvSpPr>
        <p:spPr>
          <a:xfrm rot="20176338">
            <a:off x="6762950" y="2810523"/>
            <a:ext cx="1055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Sends Request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45552B-4AF7-4A82-B99A-30A49D03B93B}"/>
              </a:ext>
            </a:extLst>
          </p:cNvPr>
          <p:cNvSpPr txBox="1"/>
          <p:nvPr/>
        </p:nvSpPr>
        <p:spPr>
          <a:xfrm rot="1644497">
            <a:off x="4763252" y="2086508"/>
            <a:ext cx="1055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Sends Request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ACA8E5-101B-4302-85BB-9F1B371C4D83}"/>
              </a:ext>
            </a:extLst>
          </p:cNvPr>
          <p:cNvSpPr txBox="1"/>
          <p:nvPr/>
        </p:nvSpPr>
        <p:spPr>
          <a:xfrm rot="20176338">
            <a:off x="4104190" y="3086004"/>
            <a:ext cx="10553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Sends Request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BE3B9E-8D76-4242-BA32-3913E7F34FC4}"/>
              </a:ext>
            </a:extLst>
          </p:cNvPr>
          <p:cNvSpPr txBox="1"/>
          <p:nvPr/>
        </p:nvSpPr>
        <p:spPr>
          <a:xfrm rot="20298775">
            <a:off x="4726451" y="3668364"/>
            <a:ext cx="656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Request</a:t>
            </a:r>
          </a:p>
        </p:txBody>
      </p:sp>
    </p:spTree>
    <p:extLst>
      <p:ext uri="{BB962C8B-B14F-4D97-AF65-F5344CB8AC3E}">
        <p14:creationId xmlns:p14="http://schemas.microsoft.com/office/powerpoint/2010/main" val="157099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DB9B-DB4D-44E3-8B0A-4C23D42FF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37543"/>
            <a:ext cx="9905998" cy="972157"/>
          </a:xfrm>
        </p:spPr>
        <p:txBody>
          <a:bodyPr>
            <a:normAutofit fontScale="90000"/>
          </a:bodyPr>
          <a:lstStyle/>
          <a:p>
            <a:r>
              <a:rPr lang="en-IN" sz="6600" dirty="0">
                <a:solidFill>
                  <a:srgbClr val="EEEE8A"/>
                </a:solidFill>
              </a:rPr>
              <a:t>Real time operating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537D01-872E-4E53-A5C0-047BD11C1920}"/>
              </a:ext>
            </a:extLst>
          </p:cNvPr>
          <p:cNvSpPr txBox="1"/>
          <p:nvPr/>
        </p:nvSpPr>
        <p:spPr>
          <a:xfrm>
            <a:off x="1141413" y="4519615"/>
            <a:ext cx="101536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A Realtime Operating System (RTOS) is a type of operating system. That acts as an interface between the system </a:t>
            </a:r>
            <a:r>
              <a:rPr lang="en-IN" sz="2000" dirty="0">
                <a:solidFill>
                  <a:srgbClr val="FF3737"/>
                </a:solidFill>
              </a:rPr>
              <a:t>hardware and the user</a:t>
            </a:r>
            <a:r>
              <a:rPr lang="en-IN" sz="2000" dirty="0"/>
              <a:t>. It handle all the interactions between the </a:t>
            </a:r>
            <a:r>
              <a:rPr lang="en-IN" sz="2000" dirty="0">
                <a:solidFill>
                  <a:srgbClr val="FF3737"/>
                </a:solidFill>
              </a:rPr>
              <a:t>software</a:t>
            </a:r>
            <a:r>
              <a:rPr lang="en-IN" sz="2000" dirty="0"/>
              <a:t> and the </a:t>
            </a:r>
            <a:r>
              <a:rPr lang="en-IN" sz="2000" dirty="0">
                <a:solidFill>
                  <a:srgbClr val="FF3737"/>
                </a:solidFill>
              </a:rPr>
              <a:t>hardware</a:t>
            </a:r>
            <a:r>
              <a:rPr lang="en-IN" sz="2000" dirty="0"/>
              <a:t>. It is used in real time systems where the time </a:t>
            </a:r>
            <a:r>
              <a:rPr lang="en-IN" sz="2000" dirty="0">
                <a:solidFill>
                  <a:srgbClr val="FF3737"/>
                </a:solidFill>
              </a:rPr>
              <a:t>constraints are fixed</a:t>
            </a:r>
            <a:r>
              <a:rPr lang="en-IN" sz="2000" dirty="0"/>
              <a:t> and </a:t>
            </a:r>
            <a:r>
              <a:rPr lang="en-IN" sz="2000" dirty="0">
                <a:solidFill>
                  <a:srgbClr val="FF3737"/>
                </a:solidFill>
              </a:rPr>
              <a:t>followed strictly</a:t>
            </a:r>
            <a:r>
              <a:rPr lang="en-IN" sz="2000" dirty="0"/>
              <a:t>. This means the </a:t>
            </a:r>
            <a:r>
              <a:rPr lang="en-IN" sz="2000" dirty="0">
                <a:solidFill>
                  <a:srgbClr val="FF3737"/>
                </a:solidFill>
              </a:rPr>
              <a:t>response time is very small</a:t>
            </a:r>
            <a:r>
              <a:rPr lang="en-IN" sz="2000" dirty="0"/>
              <a:t>. Moreover the system should </a:t>
            </a:r>
            <a:r>
              <a:rPr lang="en-IN" sz="2000" dirty="0">
                <a:solidFill>
                  <a:srgbClr val="FF3737"/>
                </a:solidFill>
              </a:rPr>
              <a:t>perform the given task in a fixed time </a:t>
            </a:r>
            <a:r>
              <a:rPr lang="en-IN" sz="2000" dirty="0"/>
              <a:t>otherwise, it results in a system failure. Response time is the time within which the </a:t>
            </a:r>
            <a:r>
              <a:rPr lang="en-IN" sz="2000" dirty="0">
                <a:solidFill>
                  <a:srgbClr val="FF3737"/>
                </a:solidFill>
              </a:rPr>
              <a:t>system takes the input, processes the data, and gives the results</a:t>
            </a:r>
            <a:r>
              <a:rPr lang="en-IN" sz="2000" dirty="0"/>
              <a:t>. Moreover they are used in systems like </a:t>
            </a:r>
            <a:r>
              <a:rPr lang="en-IN" sz="2000" dirty="0">
                <a:solidFill>
                  <a:srgbClr val="FF3737"/>
                </a:solidFill>
              </a:rPr>
              <a:t>robots, missile launches, airplanes </a:t>
            </a:r>
            <a:r>
              <a:rPr lang="en-IN" sz="2000" dirty="0"/>
              <a:t>etc.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791E1D-55AA-461B-8445-8F59184E4F82}"/>
              </a:ext>
            </a:extLst>
          </p:cNvPr>
          <p:cNvSpPr/>
          <p:nvPr/>
        </p:nvSpPr>
        <p:spPr>
          <a:xfrm>
            <a:off x="5003799" y="1490663"/>
            <a:ext cx="2181225" cy="5143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User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23F738-DC92-4973-9A3E-81503F2A0E3F}"/>
              </a:ext>
            </a:extLst>
          </p:cNvPr>
          <p:cNvSpPr/>
          <p:nvPr/>
        </p:nvSpPr>
        <p:spPr>
          <a:xfrm>
            <a:off x="5003799" y="2262187"/>
            <a:ext cx="2181225" cy="5143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program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75B6D-C0C4-4215-A69D-03B6915919F8}"/>
              </a:ext>
            </a:extLst>
          </p:cNvPr>
          <p:cNvSpPr/>
          <p:nvPr/>
        </p:nvSpPr>
        <p:spPr>
          <a:xfrm>
            <a:off x="5003799" y="3014663"/>
            <a:ext cx="2181225" cy="5143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RTOS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643829-F333-4284-A9D1-F844AC1150F1}"/>
              </a:ext>
            </a:extLst>
          </p:cNvPr>
          <p:cNvSpPr/>
          <p:nvPr/>
        </p:nvSpPr>
        <p:spPr>
          <a:xfrm>
            <a:off x="5003799" y="3767139"/>
            <a:ext cx="2181225" cy="5143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Hardware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872F1D1-ADBE-4864-B6C7-87EC6B179433}"/>
              </a:ext>
            </a:extLst>
          </p:cNvPr>
          <p:cNvSpPr/>
          <p:nvPr/>
        </p:nvSpPr>
        <p:spPr>
          <a:xfrm>
            <a:off x="5910742" y="2024061"/>
            <a:ext cx="367338" cy="25717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3737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129C7569-7D15-4403-9E9B-727D8D61E69A}"/>
              </a:ext>
            </a:extLst>
          </p:cNvPr>
          <p:cNvSpPr/>
          <p:nvPr/>
        </p:nvSpPr>
        <p:spPr>
          <a:xfrm>
            <a:off x="5909942" y="3531872"/>
            <a:ext cx="367338" cy="25717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3737"/>
              </a:solidFill>
            </a:endParaRP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9973F878-1883-4BE2-B116-7E2839FF652F}"/>
              </a:ext>
            </a:extLst>
          </p:cNvPr>
          <p:cNvSpPr/>
          <p:nvPr/>
        </p:nvSpPr>
        <p:spPr>
          <a:xfrm>
            <a:off x="5910742" y="2776537"/>
            <a:ext cx="367338" cy="25717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37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72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4C856A-0D8D-4780-A1FA-8A942A4E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8" y="388167"/>
            <a:ext cx="10107612" cy="981682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solidFill>
                  <a:srgbClr val="EEEE8A"/>
                </a:solidFill>
              </a:rPr>
              <a:t>Distributed operating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5B716-DB0E-4FCE-895E-E382A6AA5FFB}"/>
              </a:ext>
            </a:extLst>
          </p:cNvPr>
          <p:cNvSpPr txBox="1"/>
          <p:nvPr/>
        </p:nvSpPr>
        <p:spPr>
          <a:xfrm>
            <a:off x="1236663" y="4894648"/>
            <a:ext cx="1010761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A distributed operating system is an important type of operating system. A program that acts as an interface between the </a:t>
            </a:r>
            <a:r>
              <a:rPr lang="en-IN" sz="2200" dirty="0">
                <a:solidFill>
                  <a:srgbClr val="FF3737"/>
                </a:solidFill>
              </a:rPr>
              <a:t>system hardware and the user</a:t>
            </a:r>
            <a:r>
              <a:rPr lang="en-IN" sz="2200" dirty="0"/>
              <a:t>. Moreover it </a:t>
            </a:r>
            <a:r>
              <a:rPr lang="en-IN" sz="2200" dirty="0">
                <a:solidFill>
                  <a:srgbClr val="FF3737"/>
                </a:solidFill>
              </a:rPr>
              <a:t>handles all the interactions between the software and the hardware</a:t>
            </a:r>
            <a:r>
              <a:rPr lang="en-IN" sz="2200" dirty="0"/>
              <a:t>. A distributed operating system is the one in which </a:t>
            </a:r>
            <a:r>
              <a:rPr lang="en-IN" sz="2200" dirty="0">
                <a:solidFill>
                  <a:srgbClr val="FF3737"/>
                </a:solidFill>
              </a:rPr>
              <a:t>several computer systems connected through a single communication channel</a:t>
            </a:r>
            <a:r>
              <a:rPr lang="en-IN" sz="2200" dirty="0"/>
              <a:t>. Moreover, </a:t>
            </a:r>
            <a:r>
              <a:rPr lang="en-IN" sz="2200" dirty="0">
                <a:solidFill>
                  <a:srgbClr val="FF3737"/>
                </a:solidFill>
              </a:rPr>
              <a:t>these system have their individual processors and memory.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66B2A0-7C1C-4328-9B0A-10BB0F6FD6B4}"/>
              </a:ext>
            </a:extLst>
          </p:cNvPr>
          <p:cNvSpPr/>
          <p:nvPr/>
        </p:nvSpPr>
        <p:spPr>
          <a:xfrm>
            <a:off x="5257800" y="2554205"/>
            <a:ext cx="1470025" cy="1046971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Operating system</a:t>
            </a:r>
            <a:endParaRPr lang="en-IN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1BF921-7ED3-4380-B716-050BD45BE9FE}"/>
              </a:ext>
            </a:extLst>
          </p:cNvPr>
          <p:cNvSpPr/>
          <p:nvPr/>
        </p:nvSpPr>
        <p:spPr>
          <a:xfrm>
            <a:off x="3557588" y="2554206"/>
            <a:ext cx="1257300" cy="9816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CPU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51892-28BF-47B8-8580-7AA1740FBDA9}"/>
              </a:ext>
            </a:extLst>
          </p:cNvPr>
          <p:cNvSpPr/>
          <p:nvPr/>
        </p:nvSpPr>
        <p:spPr>
          <a:xfrm>
            <a:off x="5364162" y="1427594"/>
            <a:ext cx="1200150" cy="8480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CPU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Memory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Disk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FBC3B-28F5-4105-9380-7D7DB0726660}"/>
              </a:ext>
            </a:extLst>
          </p:cNvPr>
          <p:cNvSpPr/>
          <p:nvPr/>
        </p:nvSpPr>
        <p:spPr>
          <a:xfrm>
            <a:off x="7138987" y="2615744"/>
            <a:ext cx="1200150" cy="8480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CPU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Memory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Disk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4DFB8D-8965-4238-AC64-4801526AF36C}"/>
              </a:ext>
            </a:extLst>
          </p:cNvPr>
          <p:cNvSpPr/>
          <p:nvPr/>
        </p:nvSpPr>
        <p:spPr>
          <a:xfrm>
            <a:off x="5400674" y="3880585"/>
            <a:ext cx="1200150" cy="8480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CPU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Memory</a:t>
            </a:r>
          </a:p>
          <a:p>
            <a:pPr algn="ctr"/>
            <a:r>
              <a:rPr lang="en-IN" b="1" dirty="0">
                <a:solidFill>
                  <a:schemeClr val="bg1"/>
                </a:solidFill>
              </a:rPr>
              <a:t>Disk</a:t>
            </a:r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5BD4469C-7B51-45BB-BD6F-E72B070E4297}"/>
              </a:ext>
            </a:extLst>
          </p:cNvPr>
          <p:cNvSpPr/>
          <p:nvPr/>
        </p:nvSpPr>
        <p:spPr>
          <a:xfrm>
            <a:off x="6727825" y="2968625"/>
            <a:ext cx="404812" cy="162299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36B6DC87-2461-491A-8545-737CC5B55187}"/>
              </a:ext>
            </a:extLst>
          </p:cNvPr>
          <p:cNvSpPr/>
          <p:nvPr/>
        </p:nvSpPr>
        <p:spPr>
          <a:xfrm rot="5400000">
            <a:off x="5873614" y="3662218"/>
            <a:ext cx="238395" cy="161316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9413BC39-1C90-4621-865E-D59603B2B0CB}"/>
              </a:ext>
            </a:extLst>
          </p:cNvPr>
          <p:cNvSpPr/>
          <p:nvPr/>
        </p:nvSpPr>
        <p:spPr>
          <a:xfrm>
            <a:off x="4845845" y="2963897"/>
            <a:ext cx="404812" cy="162299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8" name="Arrow: Left-Right 17">
            <a:extLst>
              <a:ext uri="{FF2B5EF4-FFF2-40B4-BE49-F238E27FC236}">
                <a16:creationId xmlns:a16="http://schemas.microsoft.com/office/drawing/2014/main" id="{9DA4F68C-A23E-4A36-BA89-C1C9CEDA80EA}"/>
              </a:ext>
            </a:extLst>
          </p:cNvPr>
          <p:cNvSpPr/>
          <p:nvPr/>
        </p:nvSpPr>
        <p:spPr>
          <a:xfrm rot="5400000">
            <a:off x="5875200" y="2313336"/>
            <a:ext cx="238395" cy="161316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8123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285</TotalTime>
  <Words>546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Calibri</vt:lpstr>
      <vt:lpstr>Cambria</vt:lpstr>
      <vt:lpstr>Trebuchet MS</vt:lpstr>
      <vt:lpstr>Tw Cen MT</vt:lpstr>
      <vt:lpstr>Wingdings</vt:lpstr>
      <vt:lpstr>Circuit</vt:lpstr>
      <vt:lpstr>OPERATING SYSTEM</vt:lpstr>
      <vt:lpstr>What is operating system ?</vt:lpstr>
      <vt:lpstr>Operating system as resource manager</vt:lpstr>
      <vt:lpstr>Types of operating system</vt:lpstr>
      <vt:lpstr>Batch Operating System</vt:lpstr>
      <vt:lpstr>Time sharing operating system</vt:lpstr>
      <vt:lpstr>Network operating system</vt:lpstr>
      <vt:lpstr>Real time operating system</vt:lpstr>
      <vt:lpstr>Distributed operating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JOY</dc:creator>
  <cp:lastModifiedBy>JOY</cp:lastModifiedBy>
  <cp:revision>22</cp:revision>
  <dcterms:created xsi:type="dcterms:W3CDTF">2023-07-31T16:30:20Z</dcterms:created>
  <dcterms:modified xsi:type="dcterms:W3CDTF">2023-07-31T21:15:33Z</dcterms:modified>
</cp:coreProperties>
</file>