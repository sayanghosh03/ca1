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7"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2863"/>
    <a:srgbClr val="AEA6EA"/>
    <a:srgbClr val="FFF3F3"/>
    <a:srgbClr val="002060"/>
    <a:srgbClr val="2C4283"/>
    <a:srgbClr val="2753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DB996E-336B-4DBB-9A4E-C7A2C01E16AD}"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0CDC01C-1A93-4206-8CA4-A7247A09055A}" type="slidenum">
              <a:rPr lang="en-IN" smtClean="0"/>
              <a:t>‹#›</a:t>
            </a:fld>
            <a:endParaRPr lang="en-IN"/>
          </a:p>
        </p:txBody>
      </p:sp>
    </p:spTree>
    <p:extLst>
      <p:ext uri="{BB962C8B-B14F-4D97-AF65-F5344CB8AC3E}">
        <p14:creationId xmlns:p14="http://schemas.microsoft.com/office/powerpoint/2010/main" val="2550520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B996E-336B-4DBB-9A4E-C7A2C01E16AD}"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CDC01C-1A93-4206-8CA4-A7247A09055A}" type="slidenum">
              <a:rPr lang="en-IN" smtClean="0"/>
              <a:t>‹#›</a:t>
            </a:fld>
            <a:endParaRPr lang="en-IN"/>
          </a:p>
        </p:txBody>
      </p:sp>
    </p:spTree>
    <p:extLst>
      <p:ext uri="{BB962C8B-B14F-4D97-AF65-F5344CB8AC3E}">
        <p14:creationId xmlns:p14="http://schemas.microsoft.com/office/powerpoint/2010/main" val="4042515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7DB996E-336B-4DBB-9A4E-C7A2C01E16AD}"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CDC01C-1A93-4206-8CA4-A7247A09055A}" type="slidenum">
              <a:rPr lang="en-IN" smtClean="0"/>
              <a:t>‹#›</a:t>
            </a:fld>
            <a:endParaRPr lang="en-IN"/>
          </a:p>
        </p:txBody>
      </p:sp>
    </p:spTree>
    <p:extLst>
      <p:ext uri="{BB962C8B-B14F-4D97-AF65-F5344CB8AC3E}">
        <p14:creationId xmlns:p14="http://schemas.microsoft.com/office/powerpoint/2010/main" val="27333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B996E-336B-4DBB-9A4E-C7A2C01E16AD}"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0CDC01C-1A93-4206-8CA4-A7247A09055A}" type="slidenum">
              <a:rPr lang="en-IN" smtClean="0"/>
              <a:t>‹#›</a:t>
            </a:fld>
            <a:endParaRPr lang="en-IN"/>
          </a:p>
        </p:txBody>
      </p:sp>
    </p:spTree>
    <p:extLst>
      <p:ext uri="{BB962C8B-B14F-4D97-AF65-F5344CB8AC3E}">
        <p14:creationId xmlns:p14="http://schemas.microsoft.com/office/powerpoint/2010/main" val="63094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B996E-336B-4DBB-9A4E-C7A2C01E16AD}" type="datetimeFigureOut">
              <a:rPr lang="en-IN" smtClean="0"/>
              <a:t>03-08-2023</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0CDC01C-1A93-4206-8CA4-A7247A09055A}" type="slidenum">
              <a:rPr lang="en-IN" smtClean="0"/>
              <a:t>‹#›</a:t>
            </a:fld>
            <a:endParaRPr lang="en-IN"/>
          </a:p>
        </p:txBody>
      </p:sp>
    </p:spTree>
    <p:extLst>
      <p:ext uri="{BB962C8B-B14F-4D97-AF65-F5344CB8AC3E}">
        <p14:creationId xmlns:p14="http://schemas.microsoft.com/office/powerpoint/2010/main" val="584294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B996E-336B-4DBB-9A4E-C7A2C01E16AD}" type="datetimeFigureOut">
              <a:rPr lang="en-IN" smtClean="0"/>
              <a:t>03-08-2023</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0CDC01C-1A93-4206-8CA4-A7247A09055A}" type="slidenum">
              <a:rPr lang="en-IN" smtClean="0"/>
              <a:t>‹#›</a:t>
            </a:fld>
            <a:endParaRPr lang="en-IN"/>
          </a:p>
        </p:txBody>
      </p:sp>
    </p:spTree>
    <p:extLst>
      <p:ext uri="{BB962C8B-B14F-4D97-AF65-F5344CB8AC3E}">
        <p14:creationId xmlns:p14="http://schemas.microsoft.com/office/powerpoint/2010/main" val="3656223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B996E-336B-4DBB-9A4E-C7A2C01E16AD}" type="datetimeFigureOut">
              <a:rPr lang="en-IN" smtClean="0"/>
              <a:t>03-08-2023</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0CDC01C-1A93-4206-8CA4-A7247A09055A}" type="slidenum">
              <a:rPr lang="en-IN" smtClean="0"/>
              <a:t>‹#›</a:t>
            </a:fld>
            <a:endParaRPr lang="en-IN"/>
          </a:p>
        </p:txBody>
      </p:sp>
    </p:spTree>
    <p:extLst>
      <p:ext uri="{BB962C8B-B14F-4D97-AF65-F5344CB8AC3E}">
        <p14:creationId xmlns:p14="http://schemas.microsoft.com/office/powerpoint/2010/main" val="3250762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7DB996E-336B-4DBB-9A4E-C7A2C01E16AD}"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0CDC01C-1A93-4206-8CA4-A7247A09055A}" type="slidenum">
              <a:rPr lang="en-IN" smtClean="0"/>
              <a:t>‹#›</a:t>
            </a:fld>
            <a:endParaRPr lang="en-IN"/>
          </a:p>
        </p:txBody>
      </p:sp>
    </p:spTree>
    <p:extLst>
      <p:ext uri="{BB962C8B-B14F-4D97-AF65-F5344CB8AC3E}">
        <p14:creationId xmlns:p14="http://schemas.microsoft.com/office/powerpoint/2010/main" val="599924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7DB996E-336B-4DBB-9A4E-C7A2C01E16AD}"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CDC01C-1A93-4206-8CA4-A7247A09055A}" type="slidenum">
              <a:rPr lang="en-IN" smtClean="0"/>
              <a:t>‹#›</a:t>
            </a:fld>
            <a:endParaRPr lang="en-IN"/>
          </a:p>
        </p:txBody>
      </p:sp>
    </p:spTree>
    <p:extLst>
      <p:ext uri="{BB962C8B-B14F-4D97-AF65-F5344CB8AC3E}">
        <p14:creationId xmlns:p14="http://schemas.microsoft.com/office/powerpoint/2010/main" val="1686448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7DB996E-336B-4DBB-9A4E-C7A2C01E16AD}"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CDC01C-1A93-4206-8CA4-A7247A09055A}" type="slidenum">
              <a:rPr lang="en-IN" smtClean="0"/>
              <a:t>‹#›</a:t>
            </a:fld>
            <a:endParaRPr lang="en-IN"/>
          </a:p>
        </p:txBody>
      </p:sp>
    </p:spTree>
    <p:extLst>
      <p:ext uri="{BB962C8B-B14F-4D97-AF65-F5344CB8AC3E}">
        <p14:creationId xmlns:p14="http://schemas.microsoft.com/office/powerpoint/2010/main" val="66069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7DB996E-336B-4DBB-9A4E-C7A2C01E16AD}"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CDC01C-1A93-4206-8CA4-A7247A09055A}"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72739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87DB996E-336B-4DBB-9A4E-C7A2C01E16AD}"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CDC01C-1A93-4206-8CA4-A7247A09055A}" type="slidenum">
              <a:rPr lang="en-IN" smtClean="0"/>
              <a:t>‹#›</a:t>
            </a:fld>
            <a:endParaRPr lang="en-IN"/>
          </a:p>
        </p:txBody>
      </p:sp>
    </p:spTree>
    <p:extLst>
      <p:ext uri="{BB962C8B-B14F-4D97-AF65-F5344CB8AC3E}">
        <p14:creationId xmlns:p14="http://schemas.microsoft.com/office/powerpoint/2010/main" val="11493704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87DB996E-336B-4DBB-9A4E-C7A2C01E16AD}"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CDC01C-1A93-4206-8CA4-A7247A09055A}"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00917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87DB996E-336B-4DBB-9A4E-C7A2C01E16AD}"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CDC01C-1A93-4206-8CA4-A7247A09055A}" type="slidenum">
              <a:rPr lang="en-IN" smtClean="0"/>
              <a:t>‹#›</a:t>
            </a:fld>
            <a:endParaRPr lang="en-IN"/>
          </a:p>
        </p:txBody>
      </p:sp>
    </p:spTree>
    <p:extLst>
      <p:ext uri="{BB962C8B-B14F-4D97-AF65-F5344CB8AC3E}">
        <p14:creationId xmlns:p14="http://schemas.microsoft.com/office/powerpoint/2010/main" val="39988235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B996E-336B-4DBB-9A4E-C7A2C01E16AD}"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CDC01C-1A93-4206-8CA4-A7247A09055A}" type="slidenum">
              <a:rPr lang="en-IN" smtClean="0"/>
              <a:t>‹#›</a:t>
            </a:fld>
            <a:endParaRPr lang="en-IN"/>
          </a:p>
        </p:txBody>
      </p:sp>
    </p:spTree>
    <p:extLst>
      <p:ext uri="{BB962C8B-B14F-4D97-AF65-F5344CB8AC3E}">
        <p14:creationId xmlns:p14="http://schemas.microsoft.com/office/powerpoint/2010/main" val="31258289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B996E-336B-4DBB-9A4E-C7A2C01E16AD}"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CDC01C-1A93-4206-8CA4-A7247A09055A}" type="slidenum">
              <a:rPr lang="en-IN" smtClean="0"/>
              <a:t>‹#›</a:t>
            </a:fld>
            <a:endParaRPr lang="en-IN"/>
          </a:p>
        </p:txBody>
      </p:sp>
    </p:spTree>
    <p:extLst>
      <p:ext uri="{BB962C8B-B14F-4D97-AF65-F5344CB8AC3E}">
        <p14:creationId xmlns:p14="http://schemas.microsoft.com/office/powerpoint/2010/main" val="3985711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7DB996E-336B-4DBB-9A4E-C7A2C01E16AD}" type="datetimeFigureOut">
              <a:rPr lang="en-IN" smtClean="0"/>
              <a:t>03-08-2023</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0CDC01C-1A93-4206-8CA4-A7247A09055A}" type="slidenum">
              <a:rPr lang="en-IN" smtClean="0"/>
              <a:t>‹#›</a:t>
            </a:fld>
            <a:endParaRPr lang="en-IN"/>
          </a:p>
        </p:txBody>
      </p:sp>
    </p:spTree>
    <p:extLst>
      <p:ext uri="{BB962C8B-B14F-4D97-AF65-F5344CB8AC3E}">
        <p14:creationId xmlns:p14="http://schemas.microsoft.com/office/powerpoint/2010/main" val="3190442775"/>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 id="2147483812" r:id="rId15"/>
    <p:sldLayoutId id="214748381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perfectpoochesgrooming.net/dogs/guides/what-is-soft-skill-grooming/" TargetMode="External"/><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3145D-E617-0048-DBB5-7D928E5E82FF}"/>
              </a:ext>
            </a:extLst>
          </p:cNvPr>
          <p:cNvSpPr>
            <a:spLocks noGrp="1"/>
          </p:cNvSpPr>
          <p:nvPr>
            <p:ph type="ctrTitle"/>
          </p:nvPr>
        </p:nvSpPr>
        <p:spPr>
          <a:xfrm>
            <a:off x="0" y="156071"/>
            <a:ext cx="12191998" cy="1012056"/>
          </a:xfrm>
          <a:noFill/>
        </p:spPr>
        <p:txBody>
          <a:bodyPr>
            <a:normAutofit/>
          </a:bodyPr>
          <a:lstStyle/>
          <a:p>
            <a:pPr algn="ctr"/>
            <a:r>
              <a:rPr lang="en-US" b="1" u="sng" dirty="0">
                <a:solidFill>
                  <a:srgbClr val="002060"/>
                </a:solidFill>
                <a:effectLst>
                  <a:glow rad="101600">
                    <a:schemeClr val="accent6">
                      <a:satMod val="175000"/>
                      <a:alpha val="40000"/>
                    </a:schemeClr>
                  </a:glow>
                  <a:outerShdw blurRad="50800" dist="38100" dir="16200000" rotWithShape="0">
                    <a:prstClr val="black">
                      <a:alpha val="40000"/>
                    </a:prstClr>
                  </a:outerShdw>
                </a:effectLst>
                <a:latin typeface="Algerian" panose="04020705040A02060702" pitchFamily="82" charset="0"/>
              </a:rPr>
              <a:t>PROFESSIONAL COMMUNICATION</a:t>
            </a:r>
            <a:endParaRPr lang="en-IN" dirty="0">
              <a:solidFill>
                <a:srgbClr val="002060"/>
              </a:solidFill>
              <a:effectLst>
                <a:glow rad="101600">
                  <a:schemeClr val="accent6">
                    <a:satMod val="175000"/>
                    <a:alpha val="40000"/>
                  </a:schemeClr>
                </a:glow>
                <a:outerShdw blurRad="50800" dist="38100" dir="16200000" rotWithShape="0">
                  <a:prstClr val="black">
                    <a:alpha val="40000"/>
                  </a:prstClr>
                </a:outerShdw>
              </a:effectLst>
              <a:latin typeface="Algerian" panose="04020705040A02060702" pitchFamily="82" charset="0"/>
            </a:endParaRPr>
          </a:p>
        </p:txBody>
      </p:sp>
      <p:sp>
        <p:nvSpPr>
          <p:cNvPr id="3" name="Subtitle 2">
            <a:extLst>
              <a:ext uri="{FF2B5EF4-FFF2-40B4-BE49-F238E27FC236}">
                <a16:creationId xmlns:a16="http://schemas.microsoft.com/office/drawing/2014/main" id="{B6402B9D-4812-9DDA-EBCB-2D34264593C3}"/>
              </a:ext>
            </a:extLst>
          </p:cNvPr>
          <p:cNvSpPr>
            <a:spLocks noGrp="1"/>
          </p:cNvSpPr>
          <p:nvPr>
            <p:ph type="subTitle" idx="1"/>
          </p:nvPr>
        </p:nvSpPr>
        <p:spPr>
          <a:xfrm>
            <a:off x="-2" y="1967116"/>
            <a:ext cx="12191999" cy="3261832"/>
          </a:xfrm>
          <a:noFill/>
          <a:ln>
            <a:noFill/>
          </a:ln>
        </p:spPr>
        <p:txBody>
          <a:bodyPr>
            <a:normAutofit fontScale="92500"/>
          </a:bodyPr>
          <a:lstStyle/>
          <a:p>
            <a:pPr algn="ctr"/>
            <a:r>
              <a:rPr lang="en-US" sz="4400" dirty="0">
                <a:ln w="0"/>
                <a:solidFill>
                  <a:schemeClr val="tx1">
                    <a:lumMod val="95000"/>
                    <a:lumOff val="5000"/>
                  </a:schemeClr>
                </a:solidFill>
                <a:effectLst>
                  <a:outerShdw blurRad="38100" dist="25400" dir="5400000" algn="ctr" rotWithShape="0">
                    <a:srgbClr val="6E747A">
                      <a:alpha val="43000"/>
                    </a:srgbClr>
                  </a:outerShdw>
                </a:effectLst>
                <a:latin typeface="Algerian" panose="04020705040A02060702" pitchFamily="82" charset="0"/>
              </a:rPr>
              <a:t>Name: </a:t>
            </a:r>
            <a:r>
              <a:rPr lang="en-US" sz="4400" dirty="0" err="1">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t>Sayan</a:t>
            </a:r>
            <a:r>
              <a:rPr lang="en-US" sz="44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t> </a:t>
            </a:r>
            <a:r>
              <a:rPr lang="en-US" sz="4400" dirty="0" err="1">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t>ghosh</a:t>
            </a:r>
            <a:r>
              <a:rPr lang="en-US" sz="4400" u="sng"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t>; </a:t>
            </a:r>
            <a:r>
              <a:rPr lang="en-US" sz="4400" u="sng" dirty="0">
                <a:ln w="0"/>
                <a:solidFill>
                  <a:schemeClr val="tx1">
                    <a:lumMod val="95000"/>
                    <a:lumOff val="5000"/>
                  </a:schemeClr>
                </a:solidFill>
                <a:effectLst>
                  <a:outerShdw blurRad="38100" dist="25400" dir="5400000" algn="ctr" rotWithShape="0">
                    <a:srgbClr val="6E747A">
                      <a:alpha val="43000"/>
                    </a:srgbClr>
                  </a:outerShdw>
                </a:effectLst>
                <a:latin typeface="Algerian" panose="04020705040A02060702" pitchFamily="82" charset="0"/>
              </a:rPr>
              <a:t>Sec</a:t>
            </a:r>
            <a:r>
              <a:rPr lang="en-US" sz="4400" dirty="0">
                <a:ln w="0"/>
                <a:solidFill>
                  <a:schemeClr val="tx1">
                    <a:lumMod val="95000"/>
                    <a:lumOff val="5000"/>
                  </a:schemeClr>
                </a:solidFill>
                <a:effectLst>
                  <a:outerShdw blurRad="38100" dist="25400" dir="5400000" algn="ctr" rotWithShape="0">
                    <a:srgbClr val="6E747A">
                      <a:alpha val="43000"/>
                    </a:srgbClr>
                  </a:outerShdw>
                </a:effectLst>
                <a:latin typeface="Algerian" panose="04020705040A02060702" pitchFamily="82" charset="0"/>
              </a:rPr>
              <a:t>: </a:t>
            </a:r>
            <a:r>
              <a:rPr lang="en-US" sz="44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t>(gamma)</a:t>
            </a:r>
            <a:br>
              <a:rPr lang="en-US" sz="44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br>
            <a:r>
              <a:rPr lang="en-US" sz="4400" dirty="0">
                <a:ln w="0"/>
                <a:solidFill>
                  <a:schemeClr val="tx1">
                    <a:lumMod val="95000"/>
                    <a:lumOff val="5000"/>
                  </a:schemeClr>
                </a:solidFill>
                <a:effectLst>
                  <a:outerShdw blurRad="38100" dist="25400" dir="5400000" algn="ctr" rotWithShape="0">
                    <a:srgbClr val="6E747A">
                      <a:alpha val="43000"/>
                    </a:srgbClr>
                  </a:outerShdw>
                </a:effectLst>
                <a:latin typeface="Algerian" panose="04020705040A02060702" pitchFamily="82" charset="0"/>
              </a:rPr>
              <a:t>stream: </a:t>
            </a:r>
            <a:r>
              <a:rPr lang="en-US" sz="4400" dirty="0" err="1">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t>bca</a:t>
            </a:r>
            <a:r>
              <a:rPr lang="en-US" sz="44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t> (2</a:t>
            </a:r>
            <a:r>
              <a:rPr lang="en-US" sz="4400" baseline="300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t>nd</a:t>
            </a:r>
            <a:r>
              <a:rPr lang="en-US" sz="44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t> year); </a:t>
            </a:r>
            <a:r>
              <a:rPr lang="en-US" sz="4400" dirty="0" err="1">
                <a:ln w="0"/>
                <a:solidFill>
                  <a:schemeClr val="tx1"/>
                </a:solidFill>
                <a:effectLst>
                  <a:outerShdw blurRad="38100" dist="25400" dir="5400000" algn="ctr" rotWithShape="0">
                    <a:srgbClr val="6E747A">
                      <a:alpha val="43000"/>
                    </a:srgbClr>
                  </a:outerShdw>
                </a:effectLst>
                <a:latin typeface="Algerian" panose="04020705040A02060702" pitchFamily="82" charset="0"/>
              </a:rPr>
              <a:t>sem</a:t>
            </a:r>
            <a:r>
              <a:rPr lang="en-US" sz="4400" dirty="0">
                <a:ln w="0"/>
                <a:solidFill>
                  <a:schemeClr val="tx1"/>
                </a:solidFill>
                <a:effectLst>
                  <a:outerShdw blurRad="38100" dist="25400" dir="5400000" algn="ctr" rotWithShape="0">
                    <a:srgbClr val="6E747A">
                      <a:alpha val="43000"/>
                    </a:srgbClr>
                  </a:outerShdw>
                </a:effectLst>
                <a:latin typeface="Algerian" panose="04020705040A02060702" pitchFamily="82" charset="0"/>
              </a:rPr>
              <a:t>: </a:t>
            </a:r>
            <a:r>
              <a:rPr lang="en-US" sz="44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t>3</a:t>
            </a:r>
            <a:r>
              <a:rPr lang="en-US" sz="4400" baseline="300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t>rd</a:t>
            </a:r>
            <a:br>
              <a:rPr lang="en-US" sz="44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br>
            <a:r>
              <a:rPr lang="en-US" sz="4400" dirty="0">
                <a:ln w="0"/>
                <a:solidFill>
                  <a:schemeClr val="tx1">
                    <a:lumMod val="95000"/>
                    <a:lumOff val="5000"/>
                  </a:schemeClr>
                </a:solidFill>
                <a:effectLst>
                  <a:outerShdw blurRad="38100" dist="25400" dir="5400000" algn="ctr" rotWithShape="0">
                    <a:srgbClr val="6E747A">
                      <a:alpha val="43000"/>
                    </a:srgbClr>
                  </a:outerShdw>
                </a:effectLst>
                <a:latin typeface="Algerian" panose="04020705040A02060702" pitchFamily="82" charset="0"/>
              </a:rPr>
              <a:t>paper name: </a:t>
            </a:r>
            <a:r>
              <a:rPr lang="en-US" sz="44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t>professional communication</a:t>
            </a:r>
            <a:br>
              <a:rPr lang="en-US" sz="44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br>
            <a:r>
              <a:rPr lang="en-US" sz="4400" dirty="0">
                <a:ln w="0"/>
                <a:solidFill>
                  <a:schemeClr val="tx1">
                    <a:lumMod val="95000"/>
                    <a:lumOff val="5000"/>
                  </a:schemeClr>
                </a:solidFill>
                <a:effectLst>
                  <a:outerShdw blurRad="38100" dist="25400" dir="5400000" algn="ctr" rotWithShape="0">
                    <a:srgbClr val="6E747A">
                      <a:alpha val="43000"/>
                    </a:srgbClr>
                  </a:outerShdw>
                </a:effectLst>
                <a:latin typeface="Algerian" panose="04020705040A02060702" pitchFamily="82" charset="0"/>
              </a:rPr>
              <a:t>paper code: </a:t>
            </a:r>
            <a:r>
              <a:rPr lang="en-US" sz="44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t>ge1b-19</a:t>
            </a:r>
            <a:br>
              <a:rPr lang="en-US" sz="44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br>
            <a:r>
              <a:rPr lang="en-US" sz="4400" dirty="0">
                <a:ln w="0"/>
                <a:solidFill>
                  <a:schemeClr val="tx1">
                    <a:lumMod val="95000"/>
                    <a:lumOff val="5000"/>
                  </a:schemeClr>
                </a:solidFill>
                <a:effectLst>
                  <a:outerShdw blurRad="38100" dist="25400" dir="5400000" algn="ctr" rotWithShape="0">
                    <a:srgbClr val="6E747A">
                      <a:alpha val="43000"/>
                    </a:srgbClr>
                  </a:outerShdw>
                </a:effectLst>
                <a:latin typeface="Algerian" panose="04020705040A02060702" pitchFamily="82" charset="0"/>
              </a:rPr>
              <a:t>university roll no: </a:t>
            </a:r>
            <a:r>
              <a:rPr lang="en-US" sz="44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rPr>
              <a:t>15201222165</a:t>
            </a:r>
            <a:endParaRPr lang="en-IN" sz="4400" dirty="0">
              <a:ln w="0"/>
              <a:solidFill>
                <a:schemeClr val="accent1">
                  <a:lumMod val="50000"/>
                </a:schemeClr>
              </a:solidFill>
              <a:effectLst>
                <a:outerShdw blurRad="38100" dist="25400" dir="5400000" algn="ctr" rotWithShape="0">
                  <a:srgbClr val="6E747A">
                    <a:alpha val="43000"/>
                  </a:srgbClr>
                </a:outerShdw>
              </a:effectLst>
              <a:latin typeface="Algerian" panose="04020705040A02060702" pitchFamily="82" charset="0"/>
            </a:endParaRPr>
          </a:p>
        </p:txBody>
      </p:sp>
      <p:sp>
        <p:nvSpPr>
          <p:cNvPr id="8" name="TextBox 7">
            <a:extLst>
              <a:ext uri="{FF2B5EF4-FFF2-40B4-BE49-F238E27FC236}">
                <a16:creationId xmlns:a16="http://schemas.microsoft.com/office/drawing/2014/main" id="{9D87722E-4F62-4EA7-9C4E-1D4253A617DA}"/>
              </a:ext>
            </a:extLst>
          </p:cNvPr>
          <p:cNvSpPr txBox="1"/>
          <p:nvPr/>
        </p:nvSpPr>
        <p:spPr>
          <a:xfrm>
            <a:off x="-17752" y="5228948"/>
            <a:ext cx="12191999" cy="723275"/>
          </a:xfrm>
          <a:prstGeom prst="rect">
            <a:avLst/>
          </a:prstGeom>
          <a:noFill/>
        </p:spPr>
        <p:txBody>
          <a:bodyPr wrap="square" rtlCol="0">
            <a:spAutoFit/>
          </a:bodyPr>
          <a:lstStyle/>
          <a:p>
            <a:pPr algn="ctr"/>
            <a:r>
              <a:rPr lang="en-US" sz="4100" dirty="0">
                <a:solidFill>
                  <a:schemeClr val="tx1">
                    <a:lumMod val="95000"/>
                    <a:lumOff val="5000"/>
                  </a:schemeClr>
                </a:solidFill>
                <a:latin typeface="Algerian" panose="04020705040A02060702" pitchFamily="82" charset="0"/>
              </a:rPr>
              <a:t>TOPIC: </a:t>
            </a:r>
            <a:r>
              <a:rPr lang="en-US" sz="4100" dirty="0">
                <a:solidFill>
                  <a:schemeClr val="accent1">
                    <a:lumMod val="50000"/>
                  </a:schemeClr>
                </a:solidFill>
                <a:latin typeface="Algerian" panose="04020705040A02060702" pitchFamily="82" charset="0"/>
              </a:rPr>
              <a:t>HARD SKILLS &amp; SOFT SKILLS</a:t>
            </a:r>
            <a:endParaRPr lang="en-IN" sz="4100" dirty="0">
              <a:solidFill>
                <a:schemeClr val="accent1">
                  <a:lumMod val="50000"/>
                </a:schemeClr>
              </a:solidFill>
              <a:latin typeface="Algerian" panose="04020705040A02060702" pitchFamily="82" charset="0"/>
            </a:endParaRPr>
          </a:p>
        </p:txBody>
      </p:sp>
    </p:spTree>
    <p:extLst>
      <p:ext uri="{BB962C8B-B14F-4D97-AF65-F5344CB8AC3E}">
        <p14:creationId xmlns:p14="http://schemas.microsoft.com/office/powerpoint/2010/main" val="3609782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C4781-03FB-63CA-645F-84EEA64A0F04}"/>
              </a:ext>
            </a:extLst>
          </p:cNvPr>
          <p:cNvSpPr>
            <a:spLocks noGrp="1"/>
          </p:cNvSpPr>
          <p:nvPr>
            <p:ph type="title"/>
          </p:nvPr>
        </p:nvSpPr>
        <p:spPr>
          <a:xfrm>
            <a:off x="2016392" y="832590"/>
            <a:ext cx="2635507" cy="818657"/>
          </a:xfrm>
          <a:noFill/>
        </p:spPr>
        <p:txBody>
          <a:bodyPr/>
          <a:lstStyle/>
          <a:p>
            <a:pPr algn="ctr"/>
            <a:r>
              <a:rPr lang="en-US" u="sng" dirty="0">
                <a:solidFill>
                  <a:srgbClr val="7030A0"/>
                </a:solidFill>
                <a:latin typeface="Algerian" panose="04020705040A02060702" pitchFamily="82" charset="0"/>
              </a:rPr>
              <a:t> CONTENTS:</a:t>
            </a:r>
            <a:endParaRPr lang="en-IN" u="sng" dirty="0">
              <a:solidFill>
                <a:srgbClr val="7030A0"/>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92ADF5C4-A56C-A226-A1E8-F14A2BCA6B61}"/>
              </a:ext>
            </a:extLst>
          </p:cNvPr>
          <p:cNvSpPr>
            <a:spLocks noGrp="1"/>
          </p:cNvSpPr>
          <p:nvPr>
            <p:ph idx="1"/>
          </p:nvPr>
        </p:nvSpPr>
        <p:spPr>
          <a:xfrm>
            <a:off x="2016392" y="1735077"/>
            <a:ext cx="10067729" cy="3709987"/>
          </a:xfrm>
          <a:noFill/>
        </p:spPr>
        <p:txBody>
          <a:bodyPr>
            <a:normAutofit fontScale="92500" lnSpcReduction="10000"/>
          </a:bodyPr>
          <a:lstStyle/>
          <a:p>
            <a:r>
              <a:rPr lang="en-US" sz="3200" dirty="0">
                <a:solidFill>
                  <a:srgbClr val="C00000"/>
                </a:solidFill>
                <a:latin typeface="Algerian" panose="04020705040A02060702" pitchFamily="82" charset="0"/>
              </a:rPr>
              <a:t>1.introduction to hard skills and soft skills.</a:t>
            </a:r>
          </a:p>
          <a:p>
            <a:r>
              <a:rPr lang="en-US" sz="3200" dirty="0">
                <a:solidFill>
                  <a:srgbClr val="C00000"/>
                </a:solidFill>
                <a:latin typeface="Algerian" panose="04020705040A02060702" pitchFamily="82" charset="0"/>
              </a:rPr>
              <a:t>2.overview and examples of hard skills &amp; soft skills.</a:t>
            </a:r>
          </a:p>
          <a:p>
            <a:r>
              <a:rPr lang="en-US" sz="3200" dirty="0">
                <a:solidFill>
                  <a:srgbClr val="C00000"/>
                </a:solidFill>
                <a:latin typeface="Algerian" panose="04020705040A02060702" pitchFamily="82" charset="0"/>
              </a:rPr>
              <a:t>3.APPLICATION OF HARD SKILL AND &amp; SOFT SKILL IN TERMS OF EMPLOYABILITY AND CAREER.</a:t>
            </a:r>
          </a:p>
          <a:p>
            <a:r>
              <a:rPr lang="en-US" sz="3200" dirty="0">
                <a:solidFill>
                  <a:srgbClr val="C00000"/>
                </a:solidFill>
                <a:latin typeface="Algerian" panose="04020705040A02060702" pitchFamily="82" charset="0"/>
              </a:rPr>
              <a:t>4.GROOMING AS PROFESSIONAL WITH SOFT SKILLS.</a:t>
            </a:r>
          </a:p>
          <a:p>
            <a:r>
              <a:rPr lang="en-US" sz="3200" dirty="0">
                <a:solidFill>
                  <a:srgbClr val="C00000"/>
                </a:solidFill>
                <a:latin typeface="Algerian" panose="04020705040A02060702" pitchFamily="82" charset="0"/>
              </a:rPr>
              <a:t>5.SUMMARY &amp; CONCLUSION</a:t>
            </a:r>
            <a:r>
              <a:rPr lang="en-US" dirty="0">
                <a:solidFill>
                  <a:srgbClr val="C00000"/>
                </a:solidFill>
                <a:latin typeface="Algerian" panose="04020705040A02060702" pitchFamily="82" charset="0"/>
              </a:rPr>
              <a:t>.</a:t>
            </a:r>
            <a:endParaRPr lang="en-IN" dirty="0">
              <a:solidFill>
                <a:srgbClr val="C00000"/>
              </a:solidFill>
              <a:latin typeface="Algerian" panose="04020705040A02060702" pitchFamily="82" charset="0"/>
            </a:endParaRPr>
          </a:p>
        </p:txBody>
      </p:sp>
    </p:spTree>
    <p:extLst>
      <p:ext uri="{BB962C8B-B14F-4D97-AF65-F5344CB8AC3E}">
        <p14:creationId xmlns:p14="http://schemas.microsoft.com/office/powerpoint/2010/main" val="1404404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0FD86-2352-9691-3883-DE46F4626F9B}"/>
              </a:ext>
            </a:extLst>
          </p:cNvPr>
          <p:cNvSpPr>
            <a:spLocks noGrp="1"/>
          </p:cNvSpPr>
          <p:nvPr>
            <p:ph type="title"/>
          </p:nvPr>
        </p:nvSpPr>
        <p:spPr>
          <a:xfrm>
            <a:off x="1492095" y="624110"/>
            <a:ext cx="10415820" cy="840705"/>
          </a:xfrm>
        </p:spPr>
        <p:txBody>
          <a:bodyPr>
            <a:normAutofit/>
          </a:bodyPr>
          <a:lstStyle/>
          <a:p>
            <a:pPr algn="ctr"/>
            <a:r>
              <a:rPr lang="en-US" u="sng" dirty="0">
                <a:solidFill>
                  <a:srgbClr val="7030A0"/>
                </a:solidFill>
                <a:latin typeface="Algerian" panose="04020705040A02060702" pitchFamily="82" charset="0"/>
              </a:rPr>
              <a:t>1.INTRODUCTION TO HARD SKILLS &amp; SOFT SKILLS </a:t>
            </a:r>
            <a:endParaRPr lang="en-IN" u="sng" dirty="0">
              <a:solidFill>
                <a:srgbClr val="7030A0"/>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8903529E-C663-027E-2FEB-5838C241376A}"/>
              </a:ext>
            </a:extLst>
          </p:cNvPr>
          <p:cNvSpPr>
            <a:spLocks noGrp="1"/>
          </p:cNvSpPr>
          <p:nvPr>
            <p:ph idx="1"/>
          </p:nvPr>
        </p:nvSpPr>
        <p:spPr>
          <a:xfrm>
            <a:off x="1492095" y="2305020"/>
            <a:ext cx="10515600" cy="3759098"/>
          </a:xfrm>
          <a:noFill/>
        </p:spPr>
        <p:txBody>
          <a:bodyPr>
            <a:noAutofit/>
          </a:bodyPr>
          <a:lstStyle/>
          <a:p>
            <a:r>
              <a:rPr lang="en-US" sz="3200" dirty="0">
                <a:solidFill>
                  <a:srgbClr val="275335"/>
                </a:solidFill>
                <a:latin typeface="Algerian" panose="04020705040A02060702" pitchFamily="82" charset="0"/>
              </a:rPr>
              <a:t>HARD SKILLS REFER TO THE JOB-RELATED KNOWLEDGE AND ABILITIES THAT EMPLOYEES NEED TO PERFORM THEIR JOB DUTIES EFFECTIVELY.</a:t>
            </a:r>
          </a:p>
          <a:p>
            <a:pPr marL="0" indent="0">
              <a:buNone/>
            </a:pPr>
            <a:endParaRPr lang="en-US" sz="3200" dirty="0">
              <a:solidFill>
                <a:srgbClr val="275335"/>
              </a:solidFill>
              <a:latin typeface="Algerian" panose="04020705040A02060702" pitchFamily="82" charset="0"/>
            </a:endParaRPr>
          </a:p>
          <a:p>
            <a:r>
              <a:rPr lang="en-US" sz="3200" dirty="0">
                <a:solidFill>
                  <a:srgbClr val="275335"/>
                </a:solidFill>
                <a:latin typeface="Algerian" panose="04020705040A02060702" pitchFamily="82" charset="0"/>
              </a:rPr>
              <a:t>ON THE OTHER HAND, SOFT SKILLS ARE THE PERSONAL QUALITIES THAT HELP EMPLOYEES REALLY THRIVE IN THE WORKPLACE.</a:t>
            </a:r>
            <a:endParaRPr lang="en-IN" sz="3200" dirty="0">
              <a:solidFill>
                <a:srgbClr val="275335"/>
              </a:solidFill>
              <a:latin typeface="Algerian" panose="04020705040A02060702" pitchFamily="82" charset="0"/>
            </a:endParaRPr>
          </a:p>
        </p:txBody>
      </p:sp>
    </p:spTree>
    <p:extLst>
      <p:ext uri="{BB962C8B-B14F-4D97-AF65-F5344CB8AC3E}">
        <p14:creationId xmlns:p14="http://schemas.microsoft.com/office/powerpoint/2010/main" val="1873221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5B57B-2D9D-3F64-C7F9-49DF4C3894AC}"/>
              </a:ext>
            </a:extLst>
          </p:cNvPr>
          <p:cNvSpPr>
            <a:spLocks noGrp="1"/>
          </p:cNvSpPr>
          <p:nvPr>
            <p:ph type="title"/>
          </p:nvPr>
        </p:nvSpPr>
        <p:spPr>
          <a:xfrm>
            <a:off x="1647656" y="674704"/>
            <a:ext cx="10346076" cy="503640"/>
          </a:xfrm>
        </p:spPr>
        <p:txBody>
          <a:bodyPr>
            <a:normAutofit fontScale="90000"/>
          </a:bodyPr>
          <a:lstStyle/>
          <a:p>
            <a:r>
              <a:rPr lang="en-US" sz="2800" u="sng" dirty="0">
                <a:solidFill>
                  <a:srgbClr val="7030A0"/>
                </a:solidFill>
                <a:latin typeface="Algerian" panose="04020705040A02060702" pitchFamily="82" charset="0"/>
              </a:rPr>
              <a:t>2.OVERVIEW &amp;AND EXAMPLES OF HARD SKILLS AND SOFT SKILLS </a:t>
            </a:r>
            <a:r>
              <a:rPr lang="en-US" sz="2400" u="sng" dirty="0">
                <a:solidFill>
                  <a:srgbClr val="7030A0"/>
                </a:solidFill>
                <a:latin typeface="Algerian" panose="04020705040A02060702" pitchFamily="82" charset="0"/>
              </a:rPr>
              <a:t>:</a:t>
            </a:r>
            <a:endParaRPr lang="en-IN" sz="2400" u="sng" dirty="0">
              <a:solidFill>
                <a:srgbClr val="7030A0"/>
              </a:solidFill>
              <a:latin typeface="Algerian" panose="04020705040A02060702" pitchFamily="82" charset="0"/>
            </a:endParaRPr>
          </a:p>
        </p:txBody>
      </p:sp>
      <p:pic>
        <p:nvPicPr>
          <p:cNvPr id="6" name="Content Placeholder 5">
            <a:extLst>
              <a:ext uri="{FF2B5EF4-FFF2-40B4-BE49-F238E27FC236}">
                <a16:creationId xmlns:a16="http://schemas.microsoft.com/office/drawing/2014/main" id="{FB0D2421-F5C6-CEB9-A832-AFBF3D1D35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73806" y="1354392"/>
            <a:ext cx="6172200" cy="4149213"/>
          </a:xfrm>
        </p:spPr>
      </p:pic>
      <p:sp>
        <p:nvSpPr>
          <p:cNvPr id="4" name="Text Placeholder 3">
            <a:extLst>
              <a:ext uri="{FF2B5EF4-FFF2-40B4-BE49-F238E27FC236}">
                <a16:creationId xmlns:a16="http://schemas.microsoft.com/office/drawing/2014/main" id="{BE8EF8D5-E3A7-9D42-E99C-24CAD341911A}"/>
              </a:ext>
            </a:extLst>
          </p:cNvPr>
          <p:cNvSpPr>
            <a:spLocks noGrp="1"/>
          </p:cNvSpPr>
          <p:nvPr>
            <p:ph type="body" sz="half" idx="2"/>
          </p:nvPr>
        </p:nvSpPr>
        <p:spPr>
          <a:xfrm>
            <a:off x="1440293" y="1895321"/>
            <a:ext cx="3932237" cy="3067356"/>
          </a:xfrm>
          <a:noFill/>
        </p:spPr>
        <p:txBody>
          <a:bodyPr>
            <a:normAutofit/>
          </a:bodyPr>
          <a:lstStyle/>
          <a:p>
            <a:r>
              <a:rPr lang="en-US" dirty="0">
                <a:solidFill>
                  <a:schemeClr val="tx1"/>
                </a:solidFill>
                <a:latin typeface="Algerian" panose="04020705040A02060702" pitchFamily="82" charset="0"/>
              </a:rPr>
              <a:t>HARD SKILLS ARE USUALLY OBTAINED THROUGH HANDS ON EXPERIENCE OR EDUCATION. </a:t>
            </a:r>
          </a:p>
          <a:p>
            <a:r>
              <a:rPr lang="en-US" dirty="0">
                <a:solidFill>
                  <a:schemeClr val="tx1"/>
                </a:solidFill>
                <a:latin typeface="Algerian" panose="04020705040A02060702" pitchFamily="82" charset="0"/>
              </a:rPr>
              <a:t>             ON THE OTHER HAND, SOFT SKILLS ARE MORE AKIN TO PERSONALITY TRAITS THAT YOU HAVE NATURALLY DEVELOPED THROUGHOUT YOUR LIFE.</a:t>
            </a:r>
          </a:p>
          <a:p>
            <a:r>
              <a:rPr lang="en-US" b="1" u="sng" dirty="0">
                <a:solidFill>
                  <a:schemeClr val="tx1"/>
                </a:solidFill>
                <a:latin typeface="Algerian" panose="04020705040A02060702" pitchFamily="82" charset="0"/>
              </a:rPr>
              <a:t>FOR EXAMPLE</a:t>
            </a:r>
            <a:r>
              <a:rPr lang="en-US" u="sng" dirty="0">
                <a:solidFill>
                  <a:schemeClr val="tx1"/>
                </a:solidFill>
                <a:latin typeface="Algerian" panose="04020705040A02060702" pitchFamily="82" charset="0"/>
              </a:rPr>
              <a:t> :</a:t>
            </a:r>
          </a:p>
          <a:p>
            <a:r>
              <a:rPr lang="en-US" u="sng" dirty="0">
                <a:solidFill>
                  <a:schemeClr val="tx1"/>
                </a:solidFill>
                <a:latin typeface="Algerian" panose="04020705040A02060702" pitchFamily="82" charset="0"/>
              </a:rPr>
              <a:t>A HARD SKILL WOULD BE CODING .NO ONE IS BORN WITH THE INSTINCT TO CODE.</a:t>
            </a:r>
            <a:endParaRPr lang="en-IN" u="sng" dirty="0">
              <a:solidFill>
                <a:schemeClr val="tx1"/>
              </a:solidFill>
              <a:latin typeface="Algerian" panose="04020705040A02060702" pitchFamily="82" charset="0"/>
            </a:endParaRPr>
          </a:p>
        </p:txBody>
      </p:sp>
    </p:spTree>
    <p:extLst>
      <p:ext uri="{BB962C8B-B14F-4D97-AF65-F5344CB8AC3E}">
        <p14:creationId xmlns:p14="http://schemas.microsoft.com/office/powerpoint/2010/main" val="1629734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A8696-D29A-6B0B-E47B-34215022B021}"/>
              </a:ext>
            </a:extLst>
          </p:cNvPr>
          <p:cNvSpPr>
            <a:spLocks noGrp="1"/>
          </p:cNvSpPr>
          <p:nvPr>
            <p:ph type="title"/>
          </p:nvPr>
        </p:nvSpPr>
        <p:spPr>
          <a:xfrm>
            <a:off x="1578746" y="573777"/>
            <a:ext cx="10515600" cy="1325563"/>
          </a:xfrm>
        </p:spPr>
        <p:txBody>
          <a:bodyPr>
            <a:normAutofit fontScale="90000"/>
          </a:bodyPr>
          <a:lstStyle/>
          <a:p>
            <a:r>
              <a:rPr lang="en-US" sz="3600" u="sng" dirty="0">
                <a:solidFill>
                  <a:srgbClr val="7030A0"/>
                </a:solidFill>
                <a:latin typeface="Algerian" panose="04020705040A02060702" pitchFamily="82" charset="0"/>
              </a:rPr>
              <a:t>3.APPLICATION OF HARD SKILL AND &amp; SOFT SKILL IN TERMS OF EMPLOYABILITY AND CAREER :</a:t>
            </a:r>
            <a:br>
              <a:rPr lang="en-US" sz="3600" u="sng" dirty="0">
                <a:solidFill>
                  <a:srgbClr val="7030A0"/>
                </a:solidFill>
                <a:latin typeface="Algerian" panose="04020705040A02060702" pitchFamily="82" charset="0"/>
              </a:rPr>
            </a:br>
            <a:endParaRPr lang="en-IN" sz="3600" u="sng" dirty="0">
              <a:solidFill>
                <a:srgbClr val="7030A0"/>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42DA616E-23FF-B39F-36FC-539FD3B5D64B}"/>
              </a:ext>
            </a:extLst>
          </p:cNvPr>
          <p:cNvSpPr>
            <a:spLocks noGrp="1"/>
          </p:cNvSpPr>
          <p:nvPr>
            <p:ph idx="1"/>
          </p:nvPr>
        </p:nvSpPr>
        <p:spPr>
          <a:xfrm>
            <a:off x="1433004" y="2358285"/>
            <a:ext cx="10515600" cy="3601781"/>
          </a:xfrm>
          <a:noFill/>
        </p:spPr>
        <p:txBody>
          <a:bodyPr>
            <a:normAutofit/>
          </a:bodyPr>
          <a:lstStyle/>
          <a:p>
            <a:pPr marL="0" indent="0" algn="ctr">
              <a:buNone/>
            </a:pPr>
            <a:r>
              <a:rPr lang="en-US" sz="2800" dirty="0">
                <a:solidFill>
                  <a:srgbClr val="F82863"/>
                </a:solidFill>
                <a:latin typeface="Algerian" panose="04020705040A02060702" pitchFamily="82" charset="0"/>
              </a:rPr>
              <a:t>HARD SKILLS are abilities you learn in school or on job. They are things like c programming , marketing campaign management , and  financial forecasting.</a:t>
            </a:r>
          </a:p>
          <a:p>
            <a:pPr marL="0" indent="0" algn="ctr">
              <a:buNone/>
            </a:pPr>
            <a:r>
              <a:rPr lang="en-US" sz="2800" dirty="0">
                <a:solidFill>
                  <a:srgbClr val="F82863"/>
                </a:solidFill>
                <a:latin typeface="Algerian" panose="04020705040A02060702" pitchFamily="82" charset="0"/>
              </a:rPr>
              <a:t>                       soft skills are traits that make you a good worker . they are things like work ethic, organization, communication ,collaboration and leadership. </a:t>
            </a:r>
            <a:endParaRPr lang="en-IN" sz="2800" dirty="0">
              <a:solidFill>
                <a:srgbClr val="F82863"/>
              </a:solidFill>
              <a:latin typeface="Algerian" panose="04020705040A02060702" pitchFamily="82" charset="0"/>
            </a:endParaRPr>
          </a:p>
        </p:txBody>
      </p:sp>
    </p:spTree>
    <p:extLst>
      <p:ext uri="{BB962C8B-B14F-4D97-AF65-F5344CB8AC3E}">
        <p14:creationId xmlns:p14="http://schemas.microsoft.com/office/powerpoint/2010/main" val="2675953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F8E7-3C24-CDD3-91A6-EE81769F7729}"/>
              </a:ext>
            </a:extLst>
          </p:cNvPr>
          <p:cNvSpPr>
            <a:spLocks noGrp="1"/>
          </p:cNvSpPr>
          <p:nvPr>
            <p:ph type="title"/>
          </p:nvPr>
        </p:nvSpPr>
        <p:spPr>
          <a:xfrm>
            <a:off x="1612145" y="677008"/>
            <a:ext cx="11352212" cy="804401"/>
          </a:xfrm>
        </p:spPr>
        <p:txBody>
          <a:bodyPr>
            <a:normAutofit fontScale="90000"/>
          </a:bodyPr>
          <a:lstStyle/>
          <a:p>
            <a:r>
              <a:rPr lang="en-US" sz="3200" u="sng" dirty="0">
                <a:solidFill>
                  <a:srgbClr val="7030A0"/>
                </a:solidFill>
                <a:latin typeface="Algerian" panose="04020705040A02060702" pitchFamily="82" charset="0"/>
              </a:rPr>
              <a:t>4.GROOMING AS PROFESSIONAL WITH SOFT SKILLS :</a:t>
            </a:r>
            <a:br>
              <a:rPr lang="en-US" sz="3200" u="sng" dirty="0">
                <a:solidFill>
                  <a:srgbClr val="7030A0"/>
                </a:solidFill>
                <a:latin typeface="Algerian" panose="04020705040A02060702" pitchFamily="82" charset="0"/>
              </a:rPr>
            </a:br>
            <a:endParaRPr lang="en-IN" u="sng" dirty="0">
              <a:solidFill>
                <a:srgbClr val="7030A0"/>
              </a:solidFill>
            </a:endParaRPr>
          </a:p>
        </p:txBody>
      </p:sp>
      <p:pic>
        <p:nvPicPr>
          <p:cNvPr id="6" name="Content Placeholder 5">
            <a:extLst>
              <a:ext uri="{FF2B5EF4-FFF2-40B4-BE49-F238E27FC236}">
                <a16:creationId xmlns:a16="http://schemas.microsoft.com/office/drawing/2014/main" id="{BF406FAD-6B5A-5114-E57D-5178C9A495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47620" y="1481409"/>
            <a:ext cx="4762500" cy="4325426"/>
          </a:xfrm>
        </p:spPr>
      </p:pic>
      <p:sp>
        <p:nvSpPr>
          <p:cNvPr id="4" name="Text Placeholder 3">
            <a:extLst>
              <a:ext uri="{FF2B5EF4-FFF2-40B4-BE49-F238E27FC236}">
                <a16:creationId xmlns:a16="http://schemas.microsoft.com/office/drawing/2014/main" id="{CEBB3814-1F87-C432-A347-48D10E4FEF81}"/>
              </a:ext>
            </a:extLst>
          </p:cNvPr>
          <p:cNvSpPr>
            <a:spLocks noGrp="1"/>
          </p:cNvSpPr>
          <p:nvPr>
            <p:ph type="body" sz="half" idx="2"/>
          </p:nvPr>
        </p:nvSpPr>
        <p:spPr>
          <a:xfrm>
            <a:off x="2064906" y="1841131"/>
            <a:ext cx="3932237" cy="3605981"/>
          </a:xfrm>
          <a:noFill/>
        </p:spPr>
        <p:txBody>
          <a:bodyPr>
            <a:normAutofit lnSpcReduction="10000"/>
          </a:bodyPr>
          <a:lstStyle/>
          <a:p>
            <a:r>
              <a:rPr lang="en-US" sz="1800" b="0" i="0" dirty="0">
                <a:solidFill>
                  <a:srgbClr val="275335"/>
                </a:solidFill>
                <a:effectLst/>
                <a:latin typeface="Algerian" panose="04020705040A02060702" pitchFamily="82" charset="0"/>
              </a:rPr>
              <a:t>Soft skill grooming is the process of developing and strengthening your interpersonal communication, problem-solving and critical thinking skills. </a:t>
            </a:r>
            <a:r>
              <a:rPr lang="en-US" sz="1800" b="0" i="0" dirty="0">
                <a:solidFill>
                  <a:srgbClr val="275335"/>
                </a:solidFill>
                <a:effectLst/>
                <a:latin typeface="Algerian" panose="04020705040A02060702" pitchFamily="82" charset="0"/>
                <a:hlinkClick r:id="rId3">
                  <a:extLst>
                    <a:ext uri="{A12FA001-AC4F-418D-AE19-62706E023703}">
                      <ahyp:hlinkClr xmlns:ahyp="http://schemas.microsoft.com/office/drawing/2018/hyperlinkcolor" val="tx"/>
                    </a:ext>
                  </a:extLst>
                </a:hlinkClick>
              </a:rPr>
              <a:t>It is an important part of personal and professional development, as it helps you to build relationships, lead effectively, handle difficult conversations and succeed in the workplace</a:t>
            </a:r>
            <a:endParaRPr lang="en-IN" sz="1800" dirty="0">
              <a:solidFill>
                <a:srgbClr val="275335"/>
              </a:solidFill>
              <a:latin typeface="Algerian" panose="04020705040A02060702" pitchFamily="82" charset="0"/>
            </a:endParaRPr>
          </a:p>
        </p:txBody>
      </p:sp>
    </p:spTree>
    <p:extLst>
      <p:ext uri="{BB962C8B-B14F-4D97-AF65-F5344CB8AC3E}">
        <p14:creationId xmlns:p14="http://schemas.microsoft.com/office/powerpoint/2010/main" val="1337701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9A306-9E80-669B-E20B-68BE10349537}"/>
              </a:ext>
            </a:extLst>
          </p:cNvPr>
          <p:cNvSpPr>
            <a:spLocks noGrp="1"/>
          </p:cNvSpPr>
          <p:nvPr>
            <p:ph type="title"/>
          </p:nvPr>
        </p:nvSpPr>
        <p:spPr>
          <a:xfrm>
            <a:off x="1676400" y="592159"/>
            <a:ext cx="10515600" cy="908167"/>
          </a:xfrm>
        </p:spPr>
        <p:txBody>
          <a:bodyPr>
            <a:normAutofit/>
          </a:bodyPr>
          <a:lstStyle/>
          <a:p>
            <a:r>
              <a:rPr lang="en-US" sz="4400" u="sng" dirty="0">
                <a:solidFill>
                  <a:srgbClr val="7030A0"/>
                </a:solidFill>
                <a:latin typeface="Algerian" panose="04020705040A02060702" pitchFamily="82" charset="0"/>
              </a:rPr>
              <a:t>5.SUMMARY &amp; CONCLUSION :</a:t>
            </a:r>
            <a:endParaRPr lang="en-IN" u="sng" dirty="0">
              <a:solidFill>
                <a:srgbClr val="7030A0"/>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B935EFE2-2BE9-DE9E-84C9-7688B22FFCCA}"/>
              </a:ext>
            </a:extLst>
          </p:cNvPr>
          <p:cNvSpPr>
            <a:spLocks noGrp="1"/>
          </p:cNvSpPr>
          <p:nvPr>
            <p:ph idx="1"/>
          </p:nvPr>
        </p:nvSpPr>
        <p:spPr>
          <a:xfrm>
            <a:off x="986716" y="2012157"/>
            <a:ext cx="10515600" cy="4351338"/>
          </a:xfrm>
          <a:noFill/>
        </p:spPr>
        <p:txBody>
          <a:bodyPr>
            <a:normAutofit/>
          </a:bodyPr>
          <a:lstStyle/>
          <a:p>
            <a:pPr algn="ctr"/>
            <a:r>
              <a:rPr lang="en-US" b="0" i="0" dirty="0">
                <a:solidFill>
                  <a:srgbClr val="002060"/>
                </a:solidFill>
                <a:effectLst/>
                <a:latin typeface="Algerian" panose="04020705040A02060702" pitchFamily="82" charset="0"/>
              </a:rPr>
              <a:t>Hard skills are easy to measure and define, while soft skills are a bit more nebulous. Hard skills are those talents and abilities that can be measured. They are usually specific to a particular job, and they can be learned through schooling or on-the-job training. Soft skills are less defined skills that often apply not only to one specific job but are universal. Some recruiters or HR personnel might define these vaguely as “people skills.” Think of empathy, creativity, adaptability, and collaboration.</a:t>
            </a:r>
          </a:p>
          <a:p>
            <a:pPr marL="0" indent="0" algn="ctr">
              <a:buNone/>
            </a:pPr>
            <a:endParaRPr lang="en-US" b="0" i="0" dirty="0">
              <a:solidFill>
                <a:srgbClr val="002060"/>
              </a:solidFill>
              <a:effectLst/>
              <a:latin typeface="Algerian" panose="04020705040A02060702" pitchFamily="82" charset="0"/>
            </a:endParaRPr>
          </a:p>
          <a:p>
            <a:pPr algn="ctr"/>
            <a:r>
              <a:rPr lang="en-US" b="0" i="0" dirty="0">
                <a:solidFill>
                  <a:srgbClr val="002060"/>
                </a:solidFill>
                <a:effectLst/>
                <a:latin typeface="Algerian" panose="04020705040A02060702" pitchFamily="82" charset="0"/>
              </a:rPr>
              <a:t>Hard skills are often those you list on a resumé or the areas in which you hold certifications. Soft skills are those that help you build longer-lasting coworker and customer relationships. The importance of hard skills vs. soft skills should not be underestimated.</a:t>
            </a:r>
          </a:p>
          <a:p>
            <a:pPr marL="0" indent="0" algn="ctr">
              <a:buNone/>
            </a:pPr>
            <a:endParaRPr lang="en-IN" dirty="0">
              <a:solidFill>
                <a:srgbClr val="002060"/>
              </a:solidFill>
              <a:latin typeface="Algerian" panose="04020705040A02060702" pitchFamily="82" charset="0"/>
            </a:endParaRPr>
          </a:p>
        </p:txBody>
      </p:sp>
    </p:spTree>
    <p:extLst>
      <p:ext uri="{BB962C8B-B14F-4D97-AF65-F5344CB8AC3E}">
        <p14:creationId xmlns:p14="http://schemas.microsoft.com/office/powerpoint/2010/main" val="325102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81773A2-63D2-46C2-9646-06ABD7EFC171}"/>
              </a:ext>
            </a:extLst>
          </p:cNvPr>
          <p:cNvSpPr>
            <a:spLocks noGrp="1"/>
          </p:cNvSpPr>
          <p:nvPr>
            <p:ph type="title"/>
          </p:nvPr>
        </p:nvSpPr>
        <p:spPr>
          <a:xfrm>
            <a:off x="0" y="2766218"/>
            <a:ext cx="12191999" cy="1325563"/>
          </a:xfrm>
        </p:spPr>
        <p:txBody>
          <a:bodyPr>
            <a:normAutofit/>
          </a:bodyPr>
          <a:lstStyle/>
          <a:p>
            <a:pPr algn="ctr"/>
            <a:r>
              <a:rPr lang="en-US" sz="6600" dirty="0">
                <a:solidFill>
                  <a:srgbClr val="002060"/>
                </a:solidFill>
                <a:latin typeface="Algerian" panose="04020705040A02060702" pitchFamily="82" charset="0"/>
              </a:rPr>
              <a:t>END</a:t>
            </a:r>
            <a:endParaRPr lang="en-IN" sz="6600" dirty="0">
              <a:solidFill>
                <a:srgbClr val="002060"/>
              </a:solidFill>
              <a:latin typeface="Algerian" panose="04020705040A02060702" pitchFamily="82" charset="0"/>
            </a:endParaRPr>
          </a:p>
        </p:txBody>
      </p:sp>
      <p:cxnSp>
        <p:nvCxnSpPr>
          <p:cNvPr id="7" name="Straight Connector 6">
            <a:extLst>
              <a:ext uri="{FF2B5EF4-FFF2-40B4-BE49-F238E27FC236}">
                <a16:creationId xmlns:a16="http://schemas.microsoft.com/office/drawing/2014/main" id="{E4A758A6-D035-4D73-9FBD-5574FFF03098}"/>
              </a:ext>
            </a:extLst>
          </p:cNvPr>
          <p:cNvCxnSpPr>
            <a:cxnSpLocks/>
          </p:cNvCxnSpPr>
          <p:nvPr/>
        </p:nvCxnSpPr>
        <p:spPr>
          <a:xfrm>
            <a:off x="4341184" y="4065147"/>
            <a:ext cx="3506680" cy="0"/>
          </a:xfrm>
          <a:prstGeom prst="line">
            <a:avLst/>
          </a:prstGeom>
          <a:effectLst>
            <a:outerShdw blurRad="50800" dist="38100" dir="13500000" algn="br" rotWithShape="0">
              <a:prstClr val="black">
                <a:alpha val="40000"/>
              </a:prstClr>
            </a:outerShdw>
          </a:effectLst>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05594812"/>
      </p:ext>
    </p:extLst>
  </p:cSld>
  <p:clrMapOvr>
    <a:masterClrMapping/>
  </p:clrMapOvr>
</p:sld>
</file>

<file path=ppt/theme/theme1.xml><?xml version="1.0" encoding="utf-8"?>
<a:theme xmlns:a="http://schemas.openxmlformats.org/drawingml/2006/main" name="Wisp">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Glossy">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191</TotalTime>
  <Words>501</Words>
  <Application>Microsoft Office PowerPoint</Application>
  <PresentationFormat>Widescreen</PresentationFormat>
  <Paragraphs>28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Algerian</vt:lpstr>
      <vt:lpstr>Arial</vt:lpstr>
      <vt:lpstr>Century Gothic</vt:lpstr>
      <vt:lpstr>Wingdings 3</vt:lpstr>
      <vt:lpstr>Wisp</vt:lpstr>
      <vt:lpstr>PROFESSIONAL COMMUNICATION</vt:lpstr>
      <vt:lpstr> CONTENTS:</vt:lpstr>
      <vt:lpstr>1.INTRODUCTION TO HARD SKILLS &amp; SOFT SKILLS </vt:lpstr>
      <vt:lpstr>2.OVERVIEW &amp;AND EXAMPLES OF HARD SKILLS AND SOFT SKILLS :</vt:lpstr>
      <vt:lpstr>3.APPLICATION OF HARD SKILL AND &amp; SOFT SKILL IN TERMS OF EMPLOYABILITY AND CAREER : </vt:lpstr>
      <vt:lpstr>4.GROOMING AS PROFESSIONAL WITH SOFT SKILLS : </vt:lpstr>
      <vt:lpstr>5.SUMMARY &amp; CONCLUSION :</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suravi das stream: bca (2nd year) section: beta paper name: professional communication paper code: ge1b-19 university roll no: 15201222072</dc:title>
  <dc:creator>suravi5430@outlook.com</dc:creator>
  <cp:lastModifiedBy>JOY</cp:lastModifiedBy>
  <cp:revision>10</cp:revision>
  <dcterms:created xsi:type="dcterms:W3CDTF">2023-08-02T09:40:16Z</dcterms:created>
  <dcterms:modified xsi:type="dcterms:W3CDTF">2023-08-03T17:49:35Z</dcterms:modified>
</cp:coreProperties>
</file>