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14630400" cy="8229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15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FF716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FF716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1" i="0">
                <a:solidFill>
                  <a:srgbClr val="FF716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316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2063" y="2256281"/>
            <a:ext cx="12806273" cy="693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1" i="0">
                <a:solidFill>
                  <a:srgbClr val="FF716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4872" y="3460444"/>
            <a:ext cx="12360655" cy="1824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630400" cy="822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4630400" cy="8046720"/>
            </a:xfrm>
            <a:custGeom>
              <a:avLst/>
              <a:gdLst/>
              <a:ahLst/>
              <a:cxnLst/>
              <a:rect l="l" t="t" r="r" b="b"/>
              <a:pathLst>
                <a:path w="14630400" h="8046720">
                  <a:moveTo>
                    <a:pt x="0" y="8046720"/>
                  </a:moveTo>
                  <a:lnTo>
                    <a:pt x="14630400" y="8046720"/>
                  </a:lnTo>
                  <a:lnTo>
                    <a:pt x="14630400" y="0"/>
                  </a:lnTo>
                  <a:lnTo>
                    <a:pt x="0" y="0"/>
                  </a:lnTo>
                  <a:lnTo>
                    <a:pt x="0" y="8046720"/>
                  </a:lnTo>
                  <a:close/>
                </a:path>
              </a:pathLst>
            </a:custGeom>
            <a:solidFill>
              <a:srgbClr val="23163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35176" y="1212037"/>
            <a:ext cx="37795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2635" algn="l"/>
                <a:tab pos="1885950" algn="l"/>
              </a:tabLst>
            </a:pPr>
            <a:r>
              <a:rPr sz="6000" spc="-670" dirty="0"/>
              <a:t>C	</a:t>
            </a:r>
            <a:r>
              <a:rPr sz="6000" spc="-215" dirty="0"/>
              <a:t>v</a:t>
            </a:r>
            <a:r>
              <a:rPr sz="6000" spc="415" dirty="0"/>
              <a:t>s</a:t>
            </a:r>
            <a:r>
              <a:rPr sz="6000" dirty="0"/>
              <a:t>	</a:t>
            </a:r>
            <a:r>
              <a:rPr sz="6000" spc="-250" dirty="0"/>
              <a:t>Ja</a:t>
            </a:r>
            <a:r>
              <a:rPr sz="6000" spc="-225" dirty="0"/>
              <a:t>v</a:t>
            </a:r>
            <a:r>
              <a:rPr sz="6000" spc="-250" dirty="0"/>
              <a:t>a</a:t>
            </a:r>
            <a:r>
              <a:rPr sz="6000" spc="795" dirty="0"/>
              <a:t>:</a:t>
            </a:r>
            <a:endParaRPr sz="6000"/>
          </a:p>
        </p:txBody>
      </p:sp>
      <p:sp>
        <p:nvSpPr>
          <p:cNvPr id="6" name="object 6"/>
          <p:cNvSpPr txBox="1"/>
          <p:nvPr/>
        </p:nvSpPr>
        <p:spPr>
          <a:xfrm>
            <a:off x="1821560" y="2357298"/>
            <a:ext cx="10477500" cy="109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99"/>
              </a:lnSpc>
              <a:spcBef>
                <a:spcPts val="95"/>
              </a:spcBef>
            </a:pPr>
            <a:r>
              <a:rPr sz="2000" spc="10" dirty="0">
                <a:solidFill>
                  <a:srgbClr val="DAD1E6"/>
                </a:solidFill>
                <a:latin typeface="Trebuchet MS"/>
                <a:cs typeface="Trebuchet MS"/>
              </a:rPr>
              <a:t>Welcome</a:t>
            </a:r>
            <a:r>
              <a:rPr sz="2000" spc="-1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200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30" dirty="0">
                <a:solidFill>
                  <a:srgbClr val="DAD1E6"/>
                </a:solidFill>
                <a:latin typeface="Trebuchet MS"/>
                <a:cs typeface="Trebuchet MS"/>
              </a:rPr>
              <a:t>my</a:t>
            </a:r>
            <a:r>
              <a:rPr sz="200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DAD1E6"/>
                </a:solidFill>
                <a:latin typeface="Trebuchet MS"/>
                <a:cs typeface="Trebuchet MS"/>
              </a:rPr>
              <a:t>comparison</a:t>
            </a:r>
            <a:r>
              <a:rPr sz="2000" spc="-1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15" dirty="0">
                <a:solidFill>
                  <a:srgbClr val="DAD1E6"/>
                </a:solidFill>
                <a:latin typeface="Trebuchet MS"/>
                <a:cs typeface="Trebuchet MS"/>
              </a:rPr>
              <a:t>of</a:t>
            </a:r>
            <a:r>
              <a:rPr sz="200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-75" dirty="0">
                <a:solidFill>
                  <a:srgbClr val="DAD1E6"/>
                </a:solidFill>
                <a:latin typeface="Trebuchet MS"/>
                <a:cs typeface="Trebuchet MS"/>
              </a:rPr>
              <a:t>C</a:t>
            </a:r>
            <a:r>
              <a:rPr sz="200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65" dirty="0">
                <a:solidFill>
                  <a:srgbClr val="DAD1E6"/>
                </a:solidFill>
                <a:latin typeface="Trebuchet MS"/>
                <a:cs typeface="Trebuchet MS"/>
              </a:rPr>
              <a:t>and</a:t>
            </a:r>
            <a:r>
              <a:rPr sz="200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DAD1E6"/>
                </a:solidFill>
                <a:latin typeface="Trebuchet MS"/>
                <a:cs typeface="Trebuchet MS"/>
              </a:rPr>
              <a:t>Java</a:t>
            </a:r>
            <a:r>
              <a:rPr sz="200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70" dirty="0">
                <a:solidFill>
                  <a:srgbClr val="DAD1E6"/>
                </a:solidFill>
                <a:latin typeface="Trebuchet MS"/>
                <a:cs typeface="Trebuchet MS"/>
              </a:rPr>
              <a:t>-</a:t>
            </a:r>
            <a:r>
              <a:rPr sz="200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DAD1E6"/>
                </a:solidFill>
                <a:latin typeface="Trebuchet MS"/>
                <a:cs typeface="Trebuchet MS"/>
              </a:rPr>
              <a:t>two</a:t>
            </a:r>
            <a:r>
              <a:rPr sz="200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50" dirty="0">
                <a:solidFill>
                  <a:srgbClr val="DAD1E6"/>
                </a:solidFill>
                <a:latin typeface="Trebuchet MS"/>
                <a:cs typeface="Trebuchet MS"/>
              </a:rPr>
              <a:t>popular</a:t>
            </a:r>
            <a:r>
              <a:rPr sz="2000" spc="-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DAD1E6"/>
                </a:solidFill>
                <a:latin typeface="Trebuchet MS"/>
                <a:cs typeface="Trebuchet MS"/>
              </a:rPr>
              <a:t>programming</a:t>
            </a:r>
            <a:r>
              <a:rPr sz="200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45" dirty="0">
                <a:solidFill>
                  <a:srgbClr val="DAD1E6"/>
                </a:solidFill>
                <a:latin typeface="Trebuchet MS"/>
                <a:cs typeface="Trebuchet MS"/>
              </a:rPr>
              <a:t>languages</a:t>
            </a:r>
            <a:r>
              <a:rPr sz="2000" spc="-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DAD1E6"/>
                </a:solidFill>
                <a:latin typeface="Trebuchet MS"/>
                <a:cs typeface="Trebuchet MS"/>
              </a:rPr>
              <a:t>utilized</a:t>
            </a:r>
            <a:r>
              <a:rPr sz="200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35" dirty="0">
                <a:solidFill>
                  <a:srgbClr val="DAD1E6"/>
                </a:solidFill>
                <a:latin typeface="Trebuchet MS"/>
                <a:cs typeface="Trebuchet MS"/>
              </a:rPr>
              <a:t>in </a:t>
            </a:r>
            <a:r>
              <a:rPr sz="2000" spc="-5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DAD1E6"/>
                </a:solidFill>
                <a:latin typeface="Trebuchet MS"/>
                <a:cs typeface="Trebuchet MS"/>
              </a:rPr>
              <a:t>creating software </a:t>
            </a:r>
            <a:r>
              <a:rPr sz="2000" spc="65" dirty="0">
                <a:solidFill>
                  <a:srgbClr val="DAD1E6"/>
                </a:solidFill>
                <a:latin typeface="Trebuchet MS"/>
                <a:cs typeface="Trebuchet MS"/>
              </a:rPr>
              <a:t>and </a:t>
            </a:r>
            <a:r>
              <a:rPr sz="2000" spc="10" dirty="0">
                <a:solidFill>
                  <a:srgbClr val="DAD1E6"/>
                </a:solidFill>
                <a:latin typeface="Trebuchet MS"/>
                <a:cs typeface="Trebuchet MS"/>
              </a:rPr>
              <a:t>applications. We'll </a:t>
            </a:r>
            <a:r>
              <a:rPr sz="2000" spc="20" dirty="0">
                <a:solidFill>
                  <a:srgbClr val="DAD1E6"/>
                </a:solidFill>
                <a:latin typeface="Trebuchet MS"/>
                <a:cs typeface="Trebuchet MS"/>
              </a:rPr>
              <a:t>break </a:t>
            </a:r>
            <a:r>
              <a:rPr sz="2000" spc="50" dirty="0">
                <a:solidFill>
                  <a:srgbClr val="DAD1E6"/>
                </a:solidFill>
                <a:latin typeface="Trebuchet MS"/>
                <a:cs typeface="Trebuchet MS"/>
              </a:rPr>
              <a:t>down </a:t>
            </a:r>
            <a:r>
              <a:rPr sz="2000" dirty="0">
                <a:solidFill>
                  <a:srgbClr val="DAD1E6"/>
                </a:solidFill>
                <a:latin typeface="Trebuchet MS"/>
                <a:cs typeface="Trebuchet MS"/>
              </a:rPr>
              <a:t>the </a:t>
            </a:r>
            <a:r>
              <a:rPr sz="2000" spc="5" dirty="0">
                <a:solidFill>
                  <a:srgbClr val="DAD1E6"/>
                </a:solidFill>
                <a:latin typeface="Trebuchet MS"/>
                <a:cs typeface="Trebuchet MS"/>
              </a:rPr>
              <a:t>key </a:t>
            </a:r>
            <a:r>
              <a:rPr sz="2000" spc="10" dirty="0">
                <a:solidFill>
                  <a:srgbClr val="DAD1E6"/>
                </a:solidFill>
                <a:latin typeface="Trebuchet MS"/>
                <a:cs typeface="Trebuchet MS"/>
              </a:rPr>
              <a:t>differences </a:t>
            </a:r>
            <a:r>
              <a:rPr sz="2000" spc="65" dirty="0">
                <a:solidFill>
                  <a:srgbClr val="DAD1E6"/>
                </a:solidFill>
                <a:latin typeface="Trebuchet MS"/>
                <a:cs typeface="Trebuchet MS"/>
              </a:rPr>
              <a:t>and </a:t>
            </a:r>
            <a:r>
              <a:rPr sz="2000" spc="35" dirty="0">
                <a:solidFill>
                  <a:srgbClr val="DAD1E6"/>
                </a:solidFill>
                <a:latin typeface="Trebuchet MS"/>
                <a:cs typeface="Trebuchet MS"/>
              </a:rPr>
              <a:t>help </a:t>
            </a:r>
            <a:r>
              <a:rPr sz="2000" spc="55" dirty="0">
                <a:solidFill>
                  <a:srgbClr val="DAD1E6"/>
                </a:solidFill>
                <a:latin typeface="Trebuchet MS"/>
                <a:cs typeface="Trebuchet MS"/>
              </a:rPr>
              <a:t>you </a:t>
            </a:r>
            <a:r>
              <a:rPr sz="200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15" dirty="0">
                <a:solidFill>
                  <a:srgbClr val="DAD1E6"/>
                </a:solidFill>
                <a:latin typeface="Trebuchet MS"/>
                <a:cs typeface="Trebuchet MS"/>
              </a:rPr>
              <a:t>navigate</a:t>
            </a:r>
            <a:r>
              <a:rPr sz="200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DAD1E6"/>
                </a:solidFill>
                <a:latin typeface="Trebuchet MS"/>
                <a:cs typeface="Trebuchet MS"/>
              </a:rPr>
              <a:t>the</a:t>
            </a:r>
            <a:r>
              <a:rPr sz="200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40" dirty="0">
                <a:solidFill>
                  <a:srgbClr val="DAD1E6"/>
                </a:solidFill>
                <a:latin typeface="Trebuchet MS"/>
                <a:cs typeface="Trebuchet MS"/>
              </a:rPr>
              <a:t>decision-making</a:t>
            </a:r>
            <a:r>
              <a:rPr sz="2000" spc="-1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2000" spc="15" dirty="0">
                <a:solidFill>
                  <a:srgbClr val="DAD1E6"/>
                </a:solidFill>
                <a:latin typeface="Trebuchet MS"/>
                <a:cs typeface="Trebuchet MS"/>
              </a:rPr>
              <a:t>process.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3400" y="5638800"/>
            <a:ext cx="4953000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pc="-5" dirty="0">
                <a:solidFill>
                  <a:srgbClr val="FFFFFF"/>
                </a:solidFill>
                <a:latin typeface="Calibri"/>
                <a:cs typeface="Calibri"/>
              </a:rPr>
              <a:t>SAYAN GHOSH</a:t>
            </a:r>
            <a:endParaRPr sz="1800" dirty="0"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BCA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800" baseline="25462" dirty="0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r>
              <a:rPr sz="1800" spc="187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YEAR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(3</a:t>
            </a:r>
            <a:r>
              <a:rPr sz="1800" spc="-15" baseline="25462" dirty="0">
                <a:solidFill>
                  <a:srgbClr val="FFFFFF"/>
                </a:solidFill>
                <a:latin typeface="Calibri"/>
                <a:cs typeface="Calibri"/>
              </a:rPr>
              <a:t>rd</a:t>
            </a:r>
            <a:r>
              <a:rPr sz="1800" spc="172" baseline="2546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SEMESTER) </a:t>
            </a:r>
            <a:r>
              <a:rPr sz="1800" spc="-3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lang="en-US" sz="1800" spc="-39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ROLL NO.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15201222</a:t>
            </a:r>
            <a:r>
              <a:rPr lang="en-US" sz="1800" spc="-5" dirty="0">
                <a:solidFill>
                  <a:srgbClr val="FFFFFF"/>
                </a:solidFill>
                <a:latin typeface="Calibri"/>
                <a:cs typeface="Calibri"/>
              </a:rPr>
              <a:t>165</a:t>
            </a:r>
          </a:p>
          <a:p>
            <a:pPr marL="38100" marR="30480">
              <a:lnSpc>
                <a:spcPct val="100000"/>
              </a:lnSpc>
            </a:pPr>
            <a:r>
              <a:rPr lang="en-US" sz="1800" spc="-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lang="en-US" spc="-5" dirty="0">
                <a:solidFill>
                  <a:srgbClr val="FFFFFF"/>
                </a:solidFill>
                <a:latin typeface="Calibri"/>
                <a:cs typeface="Calibri"/>
              </a:rPr>
              <a:t>APER CODE:- BCAC301</a:t>
            </a:r>
          </a:p>
          <a:p>
            <a:pPr marL="38100" marR="30480"/>
            <a:r>
              <a:rPr lang="en-US" spc="-5" dirty="0">
                <a:solidFill>
                  <a:srgbClr val="FFFFFF"/>
                </a:solidFill>
                <a:cs typeface="Calibri"/>
              </a:rPr>
              <a:t>SEC: GAMMA</a:t>
            </a:r>
          </a:p>
          <a:p>
            <a:pPr marL="38100" marR="30480">
              <a:lnSpc>
                <a:spcPct val="100000"/>
              </a:lnSpc>
            </a:pPr>
            <a:r>
              <a:rPr lang="en-US" spc="-5" dirty="0">
                <a:solidFill>
                  <a:srgbClr val="FFFFFF"/>
                </a:solidFill>
                <a:latin typeface="Calibri"/>
                <a:cs typeface="Calibri"/>
              </a:rPr>
              <a:t>SUBJECT:-OBJECT ORIENTED PROGRAMMING (JAVA)</a:t>
            </a:r>
            <a:endParaRPr lang="en-US" sz="18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63" y="633730"/>
            <a:ext cx="6034405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68880" algn="l"/>
                <a:tab pos="3286760" algn="l"/>
                <a:tab pos="3833495" algn="l"/>
                <a:tab pos="4925060" algn="l"/>
              </a:tabLst>
            </a:pPr>
            <a:r>
              <a:rPr spc="-915" dirty="0"/>
              <a:t>O</a:t>
            </a:r>
            <a:r>
              <a:rPr spc="-150" dirty="0"/>
              <a:t>v</a:t>
            </a:r>
            <a:r>
              <a:rPr spc="-345" dirty="0"/>
              <a:t>e</a:t>
            </a:r>
            <a:r>
              <a:rPr spc="285" dirty="0"/>
              <a:t>r</a:t>
            </a:r>
            <a:r>
              <a:rPr spc="-150" dirty="0"/>
              <a:t>v</a:t>
            </a:r>
            <a:r>
              <a:rPr spc="844" dirty="0"/>
              <a:t>i</a:t>
            </a:r>
            <a:r>
              <a:rPr spc="-355" dirty="0"/>
              <a:t>e</a:t>
            </a:r>
            <a:r>
              <a:rPr spc="-1220" dirty="0"/>
              <a:t>w</a:t>
            </a:r>
            <a:r>
              <a:rPr dirty="0"/>
              <a:t>	</a:t>
            </a:r>
            <a:r>
              <a:rPr spc="-320" dirty="0"/>
              <a:t>o</a:t>
            </a:r>
            <a:r>
              <a:rPr spc="580" dirty="0"/>
              <a:t>f</a:t>
            </a:r>
            <a:r>
              <a:rPr dirty="0"/>
              <a:t>	</a:t>
            </a:r>
            <a:r>
              <a:rPr spc="-475" dirty="0"/>
              <a:t>C</a:t>
            </a:r>
            <a:r>
              <a:rPr dirty="0"/>
              <a:t>	</a:t>
            </a:r>
            <a:r>
              <a:rPr spc="-175" dirty="0"/>
              <a:t>a</a:t>
            </a:r>
            <a:r>
              <a:rPr spc="-425" dirty="0"/>
              <a:t>n</a:t>
            </a:r>
            <a:r>
              <a:rPr spc="-340" dirty="0"/>
              <a:t>d</a:t>
            </a:r>
            <a:r>
              <a:rPr dirty="0"/>
              <a:t>	</a:t>
            </a:r>
            <a:r>
              <a:rPr spc="-175" dirty="0"/>
              <a:t>Ja</a:t>
            </a:r>
            <a:r>
              <a:rPr spc="-150" dirty="0"/>
              <a:t>v</a:t>
            </a:r>
            <a:r>
              <a:rPr spc="-130" dirty="0"/>
              <a:t>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763267"/>
            <a:ext cx="6315456" cy="38740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2063" y="5927216"/>
            <a:ext cx="303276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87020" algn="l"/>
                <a:tab pos="1924685" algn="l"/>
              </a:tabLst>
            </a:pPr>
            <a:r>
              <a:rPr sz="2150" b="1" spc="-225" dirty="0">
                <a:solidFill>
                  <a:srgbClr val="FF716C"/>
                </a:solidFill>
                <a:latin typeface="Trebuchet MS"/>
                <a:cs typeface="Trebuchet MS"/>
              </a:rPr>
              <a:t>C	</a:t>
            </a:r>
            <a:r>
              <a:rPr sz="2150" b="1" spc="-130" dirty="0">
                <a:solidFill>
                  <a:srgbClr val="FF716C"/>
                </a:solidFill>
                <a:latin typeface="Trebuchet MS"/>
                <a:cs typeface="Trebuchet MS"/>
              </a:rPr>
              <a:t>Programming	</a:t>
            </a:r>
            <a:r>
              <a:rPr sz="2150" b="1" spc="-105" dirty="0">
                <a:solidFill>
                  <a:srgbClr val="FF716C"/>
                </a:solidFill>
                <a:latin typeface="Trebuchet MS"/>
                <a:cs typeface="Trebuchet MS"/>
              </a:rPr>
              <a:t>Language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2063" y="6468516"/>
            <a:ext cx="5748020" cy="109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95"/>
              </a:spcBef>
            </a:pP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Created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by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Dennis </a:t>
            </a:r>
            <a:r>
              <a:rPr sz="1750" spc="-30" dirty="0">
                <a:solidFill>
                  <a:srgbClr val="DAD1E6"/>
                </a:solidFill>
                <a:latin typeface="Trebuchet MS"/>
                <a:cs typeface="Trebuchet MS"/>
              </a:rPr>
              <a:t>Ritchie, 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C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is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low-level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programming </a:t>
            </a:r>
            <a:r>
              <a:rPr sz="1750" spc="-5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language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DAD1E6"/>
                </a:solidFill>
                <a:latin typeface="Trebuchet MS"/>
                <a:cs typeface="Trebuchet MS"/>
              </a:rPr>
              <a:t>used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for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creating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DAD1E6"/>
                </a:solidFill>
                <a:latin typeface="Trebuchet MS"/>
                <a:cs typeface="Trebuchet MS"/>
              </a:rPr>
              <a:t>hardware,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operating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systems,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applications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with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specific</a:t>
            </a:r>
            <a:r>
              <a:rPr sz="1750" spc="-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memory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requirements.</a:t>
            </a:r>
            <a:endParaRPr sz="17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1316" y="1763267"/>
            <a:ext cx="6315456" cy="38740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61326" y="5927597"/>
            <a:ext cx="344297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95325" algn="l"/>
                <a:tab pos="2334895" algn="l"/>
              </a:tabLst>
            </a:pPr>
            <a:r>
              <a:rPr sz="2150" b="1" spc="-65" dirty="0">
                <a:solidFill>
                  <a:srgbClr val="FF716C"/>
                </a:solidFill>
                <a:latin typeface="Trebuchet MS"/>
                <a:cs typeface="Trebuchet MS"/>
              </a:rPr>
              <a:t>Java	</a:t>
            </a:r>
            <a:r>
              <a:rPr sz="2150" b="1" spc="-130" dirty="0">
                <a:solidFill>
                  <a:srgbClr val="FF716C"/>
                </a:solidFill>
                <a:latin typeface="Trebuchet MS"/>
                <a:cs typeface="Trebuchet MS"/>
              </a:rPr>
              <a:t>Programming	</a:t>
            </a:r>
            <a:r>
              <a:rPr sz="2150" b="1" spc="-105" dirty="0">
                <a:solidFill>
                  <a:srgbClr val="FF716C"/>
                </a:solidFill>
                <a:latin typeface="Trebuchet MS"/>
                <a:cs typeface="Trebuchet MS"/>
              </a:rPr>
              <a:t>Language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1326" y="6468516"/>
            <a:ext cx="5580380" cy="1092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3500"/>
              </a:lnSpc>
              <a:spcBef>
                <a:spcPts val="90"/>
              </a:spcBef>
            </a:pP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Dev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l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ope</a:t>
            </a:r>
            <a:r>
              <a:rPr sz="1750" spc="70" dirty="0">
                <a:solidFill>
                  <a:srgbClr val="DAD1E6"/>
                </a:solidFill>
                <a:latin typeface="Trebuchet MS"/>
                <a:cs typeface="Trebuchet MS"/>
              </a:rPr>
              <a:t>d</a:t>
            </a:r>
            <a:r>
              <a:rPr sz="1750" spc="-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by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300" dirty="0">
                <a:solidFill>
                  <a:srgbClr val="DAD1E6"/>
                </a:solidFill>
                <a:latin typeface="Trebuchet MS"/>
                <a:cs typeface="Trebuchet MS"/>
              </a:rPr>
              <a:t>J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750" spc="40" dirty="0">
                <a:solidFill>
                  <a:srgbClr val="DAD1E6"/>
                </a:solidFill>
                <a:latin typeface="Trebuchet MS"/>
                <a:cs typeface="Trebuchet MS"/>
              </a:rPr>
              <a:t>m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es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DAD1E6"/>
                </a:solidFill>
                <a:latin typeface="Trebuchet MS"/>
                <a:cs typeface="Trebuchet MS"/>
              </a:rPr>
              <a:t>Go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s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lin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g,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300" dirty="0">
                <a:solidFill>
                  <a:srgbClr val="DAD1E6"/>
                </a:solidFill>
                <a:latin typeface="Trebuchet MS"/>
                <a:cs typeface="Trebuchet MS"/>
              </a:rPr>
              <a:t>J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ava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is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an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obj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c</a:t>
            </a:r>
            <a:r>
              <a:rPr sz="1750" spc="-20" dirty="0">
                <a:solidFill>
                  <a:srgbClr val="DAD1E6"/>
                </a:solidFill>
                <a:latin typeface="Trebuchet MS"/>
                <a:cs typeface="Trebuchet MS"/>
              </a:rPr>
              <a:t>t</a:t>
            </a:r>
            <a:r>
              <a:rPr sz="1750" spc="60" dirty="0">
                <a:solidFill>
                  <a:srgbClr val="DAD1E6"/>
                </a:solidFill>
                <a:latin typeface="Trebuchet MS"/>
                <a:cs typeface="Trebuchet MS"/>
              </a:rPr>
              <a:t>-</a:t>
            </a:r>
            <a:r>
              <a:rPr sz="1750" spc="45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r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ie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n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ted 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language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that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70" dirty="0">
                <a:solidFill>
                  <a:srgbClr val="DAD1E6"/>
                </a:solidFill>
                <a:latin typeface="Trebuchet MS"/>
                <a:cs typeface="Trebuchet MS"/>
              </a:rPr>
              <a:t>uses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virtual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machine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DAD1E6"/>
                </a:solidFill>
                <a:latin typeface="Trebuchet MS"/>
                <a:cs typeface="Trebuchet MS"/>
              </a:rPr>
              <a:t>support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cross- </a:t>
            </a:r>
            <a:r>
              <a:rPr sz="1750" spc="-5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platform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compatibility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simplify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development.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63" y="2135886"/>
            <a:ext cx="4942205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76680" algn="l"/>
                <a:tab pos="2468880" algn="l"/>
                <a:tab pos="3833495" algn="l"/>
                <a:tab pos="4650740" algn="l"/>
              </a:tabLst>
            </a:pPr>
            <a:r>
              <a:rPr spc="-409" dirty="0"/>
              <a:t>P</a:t>
            </a:r>
            <a:r>
              <a:rPr spc="285" dirty="0"/>
              <a:t>r</a:t>
            </a:r>
            <a:r>
              <a:rPr spc="-310" dirty="0"/>
              <a:t>o</a:t>
            </a:r>
            <a:r>
              <a:rPr spc="315" dirty="0"/>
              <a:t>s</a:t>
            </a:r>
            <a:r>
              <a:rPr dirty="0"/>
              <a:t>	</a:t>
            </a:r>
            <a:r>
              <a:rPr spc="-175" dirty="0"/>
              <a:t>a</a:t>
            </a:r>
            <a:r>
              <a:rPr spc="-425" dirty="0"/>
              <a:t>n</a:t>
            </a:r>
            <a:r>
              <a:rPr spc="-340" dirty="0"/>
              <a:t>d</a:t>
            </a:r>
            <a:r>
              <a:rPr dirty="0"/>
              <a:t>	</a:t>
            </a:r>
            <a:r>
              <a:rPr spc="-520" dirty="0"/>
              <a:t>C</a:t>
            </a:r>
            <a:r>
              <a:rPr spc="-320" dirty="0"/>
              <a:t>o</a:t>
            </a:r>
            <a:r>
              <a:rPr spc="-425" dirty="0"/>
              <a:t>n</a:t>
            </a:r>
            <a:r>
              <a:rPr spc="315" dirty="0"/>
              <a:t>s</a:t>
            </a:r>
            <a:r>
              <a:rPr dirty="0"/>
              <a:t>	</a:t>
            </a:r>
            <a:r>
              <a:rPr spc="-320" dirty="0"/>
              <a:t>o</a:t>
            </a:r>
            <a:r>
              <a:rPr spc="580" dirty="0"/>
              <a:t>f</a:t>
            </a:r>
            <a:r>
              <a:rPr dirty="0"/>
              <a:t>	</a:t>
            </a:r>
            <a:r>
              <a:rPr spc="-475" dirty="0"/>
              <a:t>C</a:t>
            </a:r>
          </a:p>
        </p:txBody>
      </p:sp>
      <p:sp>
        <p:nvSpPr>
          <p:cNvPr id="3" name="object 3"/>
          <p:cNvSpPr/>
          <p:nvPr/>
        </p:nvSpPr>
        <p:spPr>
          <a:xfrm>
            <a:off x="833627" y="3264408"/>
            <a:ext cx="4173220" cy="2771140"/>
          </a:xfrm>
          <a:custGeom>
            <a:avLst/>
            <a:gdLst/>
            <a:ahLst/>
            <a:cxnLst/>
            <a:rect l="l" t="t" r="r" b="b"/>
            <a:pathLst>
              <a:path w="4173220" h="2771140">
                <a:moveTo>
                  <a:pt x="4106037" y="0"/>
                </a:moveTo>
                <a:lnTo>
                  <a:pt x="66662" y="0"/>
                </a:lnTo>
                <a:lnTo>
                  <a:pt x="40714" y="5238"/>
                </a:lnTo>
                <a:lnTo>
                  <a:pt x="19524" y="19526"/>
                </a:lnTo>
                <a:lnTo>
                  <a:pt x="5238" y="40719"/>
                </a:lnTo>
                <a:lnTo>
                  <a:pt x="0" y="66675"/>
                </a:lnTo>
                <a:lnTo>
                  <a:pt x="0" y="2703956"/>
                </a:lnTo>
                <a:lnTo>
                  <a:pt x="5238" y="2729912"/>
                </a:lnTo>
                <a:lnTo>
                  <a:pt x="19524" y="2751105"/>
                </a:lnTo>
                <a:lnTo>
                  <a:pt x="40714" y="2765393"/>
                </a:lnTo>
                <a:lnTo>
                  <a:pt x="66662" y="2770631"/>
                </a:lnTo>
                <a:lnTo>
                  <a:pt x="4106037" y="2770631"/>
                </a:lnTo>
                <a:lnTo>
                  <a:pt x="4131992" y="2765393"/>
                </a:lnTo>
                <a:lnTo>
                  <a:pt x="4153185" y="2751105"/>
                </a:lnTo>
                <a:lnTo>
                  <a:pt x="4167473" y="2729912"/>
                </a:lnTo>
                <a:lnTo>
                  <a:pt x="4172712" y="2703956"/>
                </a:lnTo>
                <a:lnTo>
                  <a:pt x="4172712" y="66675"/>
                </a:lnTo>
                <a:lnTo>
                  <a:pt x="4167473" y="40719"/>
                </a:lnTo>
                <a:lnTo>
                  <a:pt x="4153185" y="19526"/>
                </a:lnTo>
                <a:lnTo>
                  <a:pt x="4131992" y="5238"/>
                </a:lnTo>
                <a:lnTo>
                  <a:pt x="4106037" y="0"/>
                </a:lnTo>
                <a:close/>
              </a:path>
            </a:pathLst>
          </a:custGeom>
          <a:solidFill>
            <a:srgbClr val="302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34262" y="3498544"/>
            <a:ext cx="139382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spc="-145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r>
              <a:rPr sz="2150" b="1" spc="280" dirty="0">
                <a:solidFill>
                  <a:srgbClr val="FF716C"/>
                </a:solidFill>
                <a:latin typeface="Trebuchet MS"/>
                <a:cs typeface="Trebuchet MS"/>
              </a:rPr>
              <a:t>f</a:t>
            </a:r>
            <a:r>
              <a:rPr sz="2150" b="1" spc="265" dirty="0">
                <a:solidFill>
                  <a:srgbClr val="FF716C"/>
                </a:solidFill>
                <a:latin typeface="Trebuchet MS"/>
                <a:cs typeface="Trebuchet MS"/>
              </a:rPr>
              <a:t>f</a:t>
            </a:r>
            <a:r>
              <a:rPr sz="2150" b="1" spc="434" dirty="0">
                <a:solidFill>
                  <a:srgbClr val="FF716C"/>
                </a:solidFill>
                <a:latin typeface="Trebuchet MS"/>
                <a:cs typeface="Trebuchet MS"/>
              </a:rPr>
              <a:t>i</a:t>
            </a:r>
            <a:r>
              <a:rPr sz="2150" b="1" spc="-40" dirty="0">
                <a:solidFill>
                  <a:srgbClr val="FF716C"/>
                </a:solidFill>
                <a:latin typeface="Trebuchet MS"/>
                <a:cs typeface="Trebuchet MS"/>
              </a:rPr>
              <a:t>c</a:t>
            </a:r>
            <a:r>
              <a:rPr sz="2150" b="1" spc="434" dirty="0">
                <a:solidFill>
                  <a:srgbClr val="FF716C"/>
                </a:solidFill>
                <a:latin typeface="Trebuchet MS"/>
                <a:cs typeface="Trebuchet MS"/>
              </a:rPr>
              <a:t>i</a:t>
            </a:r>
            <a:r>
              <a:rPr sz="2150" b="1" spc="-160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r>
              <a:rPr sz="2150" b="1" spc="-210" dirty="0">
                <a:solidFill>
                  <a:srgbClr val="FF716C"/>
                </a:solidFill>
                <a:latin typeface="Trebuchet MS"/>
                <a:cs typeface="Trebuchet MS"/>
              </a:rPr>
              <a:t>n</a:t>
            </a:r>
            <a:r>
              <a:rPr sz="2150" b="1" spc="-25" dirty="0">
                <a:solidFill>
                  <a:srgbClr val="FF716C"/>
                </a:solidFill>
                <a:latin typeface="Trebuchet MS"/>
                <a:cs typeface="Trebuchet MS"/>
              </a:rPr>
              <a:t>c</a:t>
            </a:r>
            <a:r>
              <a:rPr sz="2150" b="1" spc="-55" dirty="0">
                <a:solidFill>
                  <a:srgbClr val="FF716C"/>
                </a:solidFill>
                <a:latin typeface="Trebuchet MS"/>
                <a:cs typeface="Trebuchet MS"/>
              </a:rPr>
              <a:t>y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262" y="4040174"/>
            <a:ext cx="3526154" cy="1802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C </a:t>
            </a:r>
            <a:r>
              <a:rPr sz="1750" spc="60" dirty="0">
                <a:solidFill>
                  <a:srgbClr val="DAD1E6"/>
                </a:solidFill>
                <a:latin typeface="Trebuchet MS"/>
                <a:cs typeface="Trebuchet MS"/>
              </a:rPr>
              <a:t>runs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v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ry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close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t</a:t>
            </a:r>
            <a:r>
              <a:rPr sz="1750" spc="70" dirty="0">
                <a:solidFill>
                  <a:srgbClr val="DAD1E6"/>
                </a:solidFill>
                <a:latin typeface="Trebuchet MS"/>
                <a:cs typeface="Trebuchet MS"/>
              </a:rPr>
              <a:t>h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m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c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h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ine  </a:t>
            </a:r>
            <a:r>
              <a:rPr sz="1750" spc="-40" dirty="0">
                <a:solidFill>
                  <a:srgbClr val="DAD1E6"/>
                </a:solidFill>
                <a:latin typeface="Trebuchet MS"/>
                <a:cs typeface="Trebuchet MS"/>
              </a:rPr>
              <a:t>level,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70" dirty="0">
                <a:solidFill>
                  <a:srgbClr val="DAD1E6"/>
                </a:solidFill>
                <a:latin typeface="Trebuchet MS"/>
                <a:cs typeface="Trebuchet MS"/>
              </a:rPr>
              <a:t>has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minimal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runtime.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DAD1E6"/>
                </a:solidFill>
                <a:latin typeface="Trebuchet MS"/>
                <a:cs typeface="Trebuchet MS"/>
              </a:rPr>
              <a:t>As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a </a:t>
            </a:r>
            <a:r>
              <a:rPr sz="1750" spc="-20" dirty="0">
                <a:solidFill>
                  <a:srgbClr val="DAD1E6"/>
                </a:solidFill>
                <a:latin typeface="Trebuchet MS"/>
                <a:cs typeface="Trebuchet MS"/>
              </a:rPr>
              <a:t>result, </a:t>
            </a:r>
            <a:r>
              <a:rPr sz="1750" spc="-35" dirty="0">
                <a:solidFill>
                  <a:srgbClr val="DAD1E6"/>
                </a:solidFill>
                <a:latin typeface="Trebuchet MS"/>
                <a:cs typeface="Trebuchet MS"/>
              </a:rPr>
              <a:t>it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is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often </a:t>
            </a:r>
            <a:r>
              <a:rPr sz="1750" spc="60" dirty="0">
                <a:solidFill>
                  <a:srgbClr val="DAD1E6"/>
                </a:solidFill>
                <a:latin typeface="Trebuchet MS"/>
                <a:cs typeface="Trebuchet MS"/>
              </a:rPr>
              <a:t>used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in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applications</a:t>
            </a:r>
            <a:r>
              <a:rPr sz="1750" spc="-1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where</a:t>
            </a:r>
            <a:r>
              <a:rPr sz="1750" spc="-114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performance</a:t>
            </a:r>
            <a:r>
              <a:rPr sz="1750" spc="-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is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40" dirty="0">
                <a:solidFill>
                  <a:srgbClr val="DAD1E6"/>
                </a:solidFill>
                <a:latin typeface="Trebuchet MS"/>
                <a:cs typeface="Trebuchet MS"/>
              </a:rPr>
              <a:t>critical.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28844" y="3264408"/>
            <a:ext cx="4173220" cy="2771140"/>
          </a:xfrm>
          <a:custGeom>
            <a:avLst/>
            <a:gdLst/>
            <a:ahLst/>
            <a:cxnLst/>
            <a:rect l="l" t="t" r="r" b="b"/>
            <a:pathLst>
              <a:path w="4173220" h="2771140">
                <a:moveTo>
                  <a:pt x="4106036" y="0"/>
                </a:moveTo>
                <a:lnTo>
                  <a:pt x="66675" y="0"/>
                </a:lnTo>
                <a:lnTo>
                  <a:pt x="40719" y="5238"/>
                </a:lnTo>
                <a:lnTo>
                  <a:pt x="19526" y="19526"/>
                </a:lnTo>
                <a:lnTo>
                  <a:pt x="5238" y="40719"/>
                </a:lnTo>
                <a:lnTo>
                  <a:pt x="0" y="66675"/>
                </a:lnTo>
                <a:lnTo>
                  <a:pt x="0" y="2703956"/>
                </a:lnTo>
                <a:lnTo>
                  <a:pt x="5238" y="2729912"/>
                </a:lnTo>
                <a:lnTo>
                  <a:pt x="19526" y="2751105"/>
                </a:lnTo>
                <a:lnTo>
                  <a:pt x="40719" y="2765393"/>
                </a:lnTo>
                <a:lnTo>
                  <a:pt x="66675" y="2770631"/>
                </a:lnTo>
                <a:lnTo>
                  <a:pt x="4106036" y="2770631"/>
                </a:lnTo>
                <a:lnTo>
                  <a:pt x="4131992" y="2765393"/>
                </a:lnTo>
                <a:lnTo>
                  <a:pt x="4153185" y="2751105"/>
                </a:lnTo>
                <a:lnTo>
                  <a:pt x="4167473" y="2729912"/>
                </a:lnTo>
                <a:lnTo>
                  <a:pt x="4172711" y="2703956"/>
                </a:lnTo>
                <a:lnTo>
                  <a:pt x="4172711" y="66675"/>
                </a:lnTo>
                <a:lnTo>
                  <a:pt x="4167473" y="40719"/>
                </a:lnTo>
                <a:lnTo>
                  <a:pt x="4153185" y="19526"/>
                </a:lnTo>
                <a:lnTo>
                  <a:pt x="4131992" y="5238"/>
                </a:lnTo>
                <a:lnTo>
                  <a:pt x="4106036" y="0"/>
                </a:lnTo>
                <a:close/>
              </a:path>
            </a:pathLst>
          </a:custGeom>
          <a:solidFill>
            <a:srgbClr val="302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30088" y="3498544"/>
            <a:ext cx="152971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b="1" spc="110" dirty="0">
                <a:solidFill>
                  <a:srgbClr val="FF716C"/>
                </a:solidFill>
                <a:latin typeface="Trebuchet MS"/>
                <a:cs typeface="Trebuchet MS"/>
              </a:rPr>
              <a:t>Portability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30088" y="4040174"/>
            <a:ext cx="3161665" cy="1802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C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is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easy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70" dirty="0">
                <a:solidFill>
                  <a:srgbClr val="DAD1E6"/>
                </a:solidFill>
                <a:latin typeface="Trebuchet MS"/>
                <a:cs typeface="Trebuchet MS"/>
              </a:rPr>
              <a:t>p</a:t>
            </a:r>
            <a:r>
              <a:rPr sz="1750" spc="45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r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t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diffe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re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n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t 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architectures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operating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systems,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can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be </a:t>
            </a:r>
            <a:r>
              <a:rPr sz="1750" spc="60" dirty="0">
                <a:solidFill>
                  <a:srgbClr val="DAD1E6"/>
                </a:solidFill>
                <a:latin typeface="Trebuchet MS"/>
                <a:cs typeface="Trebuchet MS"/>
              </a:rPr>
              <a:t>used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develop</a:t>
            </a:r>
            <a:r>
              <a:rPr sz="1750" spc="-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software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for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platforms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with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limited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resources.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24059" y="3264408"/>
            <a:ext cx="4173220" cy="2771140"/>
          </a:xfrm>
          <a:custGeom>
            <a:avLst/>
            <a:gdLst/>
            <a:ahLst/>
            <a:cxnLst/>
            <a:rect l="l" t="t" r="r" b="b"/>
            <a:pathLst>
              <a:path w="4173219" h="2771140">
                <a:moveTo>
                  <a:pt x="4106036" y="0"/>
                </a:moveTo>
                <a:lnTo>
                  <a:pt x="66675" y="0"/>
                </a:lnTo>
                <a:lnTo>
                  <a:pt x="40719" y="5238"/>
                </a:lnTo>
                <a:lnTo>
                  <a:pt x="19526" y="19526"/>
                </a:lnTo>
                <a:lnTo>
                  <a:pt x="5238" y="40719"/>
                </a:lnTo>
                <a:lnTo>
                  <a:pt x="0" y="66675"/>
                </a:lnTo>
                <a:lnTo>
                  <a:pt x="0" y="2703956"/>
                </a:lnTo>
                <a:lnTo>
                  <a:pt x="5238" y="2729912"/>
                </a:lnTo>
                <a:lnTo>
                  <a:pt x="19526" y="2751105"/>
                </a:lnTo>
                <a:lnTo>
                  <a:pt x="40719" y="2765393"/>
                </a:lnTo>
                <a:lnTo>
                  <a:pt x="66675" y="2770631"/>
                </a:lnTo>
                <a:lnTo>
                  <a:pt x="4106036" y="2770631"/>
                </a:lnTo>
                <a:lnTo>
                  <a:pt x="4131992" y="2765393"/>
                </a:lnTo>
                <a:lnTo>
                  <a:pt x="4153185" y="2751105"/>
                </a:lnTo>
                <a:lnTo>
                  <a:pt x="4167473" y="2729912"/>
                </a:lnTo>
                <a:lnTo>
                  <a:pt x="4172711" y="2703956"/>
                </a:lnTo>
                <a:lnTo>
                  <a:pt x="4172711" y="66675"/>
                </a:lnTo>
                <a:lnTo>
                  <a:pt x="4167473" y="40719"/>
                </a:lnTo>
                <a:lnTo>
                  <a:pt x="4153185" y="19526"/>
                </a:lnTo>
                <a:lnTo>
                  <a:pt x="4131992" y="5238"/>
                </a:lnTo>
                <a:lnTo>
                  <a:pt x="4106036" y="0"/>
                </a:lnTo>
                <a:close/>
              </a:path>
            </a:pathLst>
          </a:custGeom>
          <a:solidFill>
            <a:srgbClr val="302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25939" y="3498544"/>
            <a:ext cx="1939289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42060" algn="l"/>
              </a:tabLst>
            </a:pPr>
            <a:r>
              <a:rPr sz="2150" b="1" spc="-114" dirty="0">
                <a:solidFill>
                  <a:srgbClr val="FF716C"/>
                </a:solidFill>
                <a:latin typeface="Trebuchet MS"/>
                <a:cs typeface="Trebuchet MS"/>
              </a:rPr>
              <a:t>L</a:t>
            </a:r>
            <a:r>
              <a:rPr sz="2150" b="1" spc="-160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r>
              <a:rPr sz="2150" b="1" spc="-85" dirty="0">
                <a:solidFill>
                  <a:srgbClr val="FF716C"/>
                </a:solidFill>
                <a:latin typeface="Trebuchet MS"/>
                <a:cs typeface="Trebuchet MS"/>
              </a:rPr>
              <a:t>a</a:t>
            </a:r>
            <a:r>
              <a:rPr sz="2150" b="1" spc="155" dirty="0">
                <a:solidFill>
                  <a:srgbClr val="FF716C"/>
                </a:solidFill>
                <a:latin typeface="Trebuchet MS"/>
                <a:cs typeface="Trebuchet MS"/>
              </a:rPr>
              <a:t>r</a:t>
            </a:r>
            <a:r>
              <a:rPr sz="2150" b="1" spc="-210" dirty="0">
                <a:solidFill>
                  <a:srgbClr val="FF716C"/>
                </a:solidFill>
                <a:latin typeface="Trebuchet MS"/>
                <a:cs typeface="Trebuchet MS"/>
              </a:rPr>
              <a:t>n</a:t>
            </a:r>
            <a:r>
              <a:rPr sz="2150" b="1" spc="434" dirty="0">
                <a:solidFill>
                  <a:srgbClr val="FF716C"/>
                </a:solidFill>
                <a:latin typeface="Trebuchet MS"/>
                <a:cs typeface="Trebuchet MS"/>
              </a:rPr>
              <a:t>i</a:t>
            </a:r>
            <a:r>
              <a:rPr sz="2150" b="1" spc="-195" dirty="0">
                <a:solidFill>
                  <a:srgbClr val="FF716C"/>
                </a:solidFill>
                <a:latin typeface="Trebuchet MS"/>
                <a:cs typeface="Trebuchet MS"/>
              </a:rPr>
              <a:t>n</a:t>
            </a:r>
            <a:r>
              <a:rPr sz="2150" b="1" spc="10" dirty="0">
                <a:solidFill>
                  <a:srgbClr val="FF716C"/>
                </a:solidFill>
                <a:latin typeface="Trebuchet MS"/>
                <a:cs typeface="Trebuchet MS"/>
              </a:rPr>
              <a:t>g</a:t>
            </a:r>
            <a:r>
              <a:rPr sz="2150" b="1" dirty="0">
                <a:solidFill>
                  <a:srgbClr val="FF716C"/>
                </a:solidFill>
                <a:latin typeface="Trebuchet MS"/>
                <a:cs typeface="Trebuchet MS"/>
              </a:rPr>
              <a:t>	</a:t>
            </a:r>
            <a:r>
              <a:rPr sz="2150" b="1" spc="-254" dirty="0">
                <a:solidFill>
                  <a:srgbClr val="FF716C"/>
                </a:solidFill>
                <a:latin typeface="Trebuchet MS"/>
                <a:cs typeface="Trebuchet MS"/>
              </a:rPr>
              <a:t>C</a:t>
            </a:r>
            <a:r>
              <a:rPr sz="2150" b="1" spc="-210" dirty="0">
                <a:solidFill>
                  <a:srgbClr val="FF716C"/>
                </a:solidFill>
                <a:latin typeface="Trebuchet MS"/>
                <a:cs typeface="Trebuchet MS"/>
              </a:rPr>
              <a:t>u</a:t>
            </a:r>
            <a:r>
              <a:rPr sz="2150" b="1" spc="155" dirty="0">
                <a:solidFill>
                  <a:srgbClr val="FF716C"/>
                </a:solidFill>
                <a:latin typeface="Trebuchet MS"/>
                <a:cs typeface="Trebuchet MS"/>
              </a:rPr>
              <a:t>r</a:t>
            </a:r>
            <a:r>
              <a:rPr sz="2150" b="1" spc="-60" dirty="0">
                <a:solidFill>
                  <a:srgbClr val="FF716C"/>
                </a:solidFill>
                <a:latin typeface="Trebuchet MS"/>
                <a:cs typeface="Trebuchet MS"/>
              </a:rPr>
              <a:t>v</a:t>
            </a:r>
            <a:r>
              <a:rPr sz="2150" b="1" spc="-145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25939" y="4040174"/>
            <a:ext cx="3491229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95"/>
              </a:spcBef>
            </a:pP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C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spc="-10" dirty="0">
                <a:solidFill>
                  <a:srgbClr val="DAD1E6"/>
                </a:solidFill>
                <a:latin typeface="Trebuchet MS"/>
                <a:cs typeface="Trebuchet MS"/>
              </a:rPr>
              <a:t>x</a:t>
            </a:r>
            <a:r>
              <a:rPr sz="1750" spc="70" dirty="0">
                <a:solidFill>
                  <a:srgbClr val="DAD1E6"/>
                </a:solidFill>
                <a:latin typeface="Trebuchet MS"/>
                <a:cs typeface="Trebuchet MS"/>
              </a:rPr>
              <a:t>poses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t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h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compl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spc="-20" dirty="0">
                <a:solidFill>
                  <a:srgbClr val="DAD1E6"/>
                </a:solidFill>
                <a:latin typeface="Trebuchet MS"/>
                <a:cs typeface="Trebuchet MS"/>
              </a:rPr>
              <a:t>xiti</a:t>
            </a:r>
            <a:r>
              <a:rPr sz="1750" spc="-25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750" spc="105" dirty="0">
                <a:solidFill>
                  <a:srgbClr val="DAD1E6"/>
                </a:solidFill>
                <a:latin typeface="Trebuchet MS"/>
                <a:cs typeface="Trebuchet MS"/>
              </a:rPr>
              <a:t>s</a:t>
            </a:r>
            <a:r>
              <a:rPr sz="1750" spc="-114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of 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computer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architecture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 </a:t>
            </a:r>
            <a:r>
              <a:rPr sz="17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memory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management,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requiring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a </a:t>
            </a:r>
            <a:r>
              <a:rPr sz="1750" spc="-5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deep understanding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of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the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language,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making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35" dirty="0">
                <a:solidFill>
                  <a:srgbClr val="DAD1E6"/>
                </a:solidFill>
                <a:latin typeface="Trebuchet MS"/>
                <a:cs typeface="Trebuchet MS"/>
              </a:rPr>
              <a:t>it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less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beginner-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DAD1E6"/>
                </a:solidFill>
                <a:latin typeface="Trebuchet MS"/>
                <a:cs typeface="Trebuchet MS"/>
              </a:rPr>
              <a:t>friendly.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63" y="728218"/>
            <a:ext cx="5761990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76680" algn="l"/>
                <a:tab pos="2468880" algn="l"/>
                <a:tab pos="3833495" algn="l"/>
                <a:tab pos="4650740" algn="l"/>
              </a:tabLst>
            </a:pPr>
            <a:r>
              <a:rPr spc="-409" dirty="0"/>
              <a:t>P</a:t>
            </a:r>
            <a:r>
              <a:rPr spc="285" dirty="0"/>
              <a:t>r</a:t>
            </a:r>
            <a:r>
              <a:rPr spc="-310" dirty="0"/>
              <a:t>o</a:t>
            </a:r>
            <a:r>
              <a:rPr spc="315" dirty="0"/>
              <a:t>s</a:t>
            </a:r>
            <a:r>
              <a:rPr dirty="0"/>
              <a:t>	</a:t>
            </a:r>
            <a:r>
              <a:rPr spc="-175" dirty="0"/>
              <a:t>a</a:t>
            </a:r>
            <a:r>
              <a:rPr spc="-425" dirty="0"/>
              <a:t>n</a:t>
            </a:r>
            <a:r>
              <a:rPr spc="-340" dirty="0"/>
              <a:t>d</a:t>
            </a:r>
            <a:r>
              <a:rPr dirty="0"/>
              <a:t>	</a:t>
            </a:r>
            <a:r>
              <a:rPr spc="-520" dirty="0"/>
              <a:t>C</a:t>
            </a:r>
            <a:r>
              <a:rPr spc="-320" dirty="0"/>
              <a:t>o</a:t>
            </a:r>
            <a:r>
              <a:rPr spc="-425" dirty="0"/>
              <a:t>n</a:t>
            </a:r>
            <a:r>
              <a:rPr spc="315" dirty="0"/>
              <a:t>s</a:t>
            </a:r>
            <a:r>
              <a:rPr dirty="0"/>
              <a:t>	</a:t>
            </a:r>
            <a:r>
              <a:rPr spc="-320" dirty="0"/>
              <a:t>o</a:t>
            </a:r>
            <a:r>
              <a:rPr spc="580" dirty="0"/>
              <a:t>f</a:t>
            </a:r>
            <a:r>
              <a:rPr dirty="0"/>
              <a:t>	</a:t>
            </a:r>
            <a:r>
              <a:rPr spc="-165" dirty="0"/>
              <a:t>J</a:t>
            </a:r>
            <a:r>
              <a:rPr spc="-175" dirty="0"/>
              <a:t>a</a:t>
            </a:r>
            <a:r>
              <a:rPr spc="-150" dirty="0"/>
              <a:t>v</a:t>
            </a:r>
            <a:r>
              <a:rPr spc="-130" dirty="0"/>
              <a:t>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627" y="4578096"/>
            <a:ext cx="12963525" cy="1019810"/>
            <a:chOff x="833627" y="4578096"/>
            <a:chExt cx="12963525" cy="1019810"/>
          </a:xfrm>
        </p:grpSpPr>
        <p:sp>
          <p:nvSpPr>
            <p:cNvPr id="4" name="object 4"/>
            <p:cNvSpPr/>
            <p:nvPr/>
          </p:nvSpPr>
          <p:spPr>
            <a:xfrm>
              <a:off x="833628" y="4826507"/>
              <a:ext cx="12963525" cy="771525"/>
            </a:xfrm>
            <a:custGeom>
              <a:avLst/>
              <a:gdLst/>
              <a:ahLst/>
              <a:cxnLst/>
              <a:rect l="l" t="t" r="r" b="b"/>
              <a:pathLst>
                <a:path w="12963525" h="771525">
                  <a:moveTo>
                    <a:pt x="12963144" y="0"/>
                  </a:moveTo>
                  <a:lnTo>
                    <a:pt x="3192767" y="0"/>
                  </a:lnTo>
                  <a:lnTo>
                    <a:pt x="3177540" y="0"/>
                  </a:lnTo>
                  <a:lnTo>
                    <a:pt x="0" y="0"/>
                  </a:lnTo>
                  <a:lnTo>
                    <a:pt x="0" y="15240"/>
                  </a:lnTo>
                  <a:lnTo>
                    <a:pt x="3177540" y="15240"/>
                  </a:lnTo>
                  <a:lnTo>
                    <a:pt x="3177540" y="771144"/>
                  </a:lnTo>
                  <a:lnTo>
                    <a:pt x="3192767" y="771144"/>
                  </a:lnTo>
                  <a:lnTo>
                    <a:pt x="3192767" y="15240"/>
                  </a:lnTo>
                  <a:lnTo>
                    <a:pt x="12963144" y="15240"/>
                  </a:lnTo>
                  <a:lnTo>
                    <a:pt x="12963144" y="0"/>
                  </a:lnTo>
                  <a:close/>
                </a:path>
              </a:pathLst>
            </a:custGeom>
            <a:solidFill>
              <a:srgbClr val="FF6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68851" y="4578096"/>
              <a:ext cx="500380" cy="497205"/>
            </a:xfrm>
            <a:custGeom>
              <a:avLst/>
              <a:gdLst/>
              <a:ahLst/>
              <a:cxnLst/>
              <a:rect l="l" t="t" r="r" b="b"/>
              <a:pathLst>
                <a:path w="500379" h="497204">
                  <a:moveTo>
                    <a:pt x="433197" y="0"/>
                  </a:moveTo>
                  <a:lnTo>
                    <a:pt x="66675" y="0"/>
                  </a:lnTo>
                  <a:lnTo>
                    <a:pt x="40719" y="5238"/>
                  </a:lnTo>
                  <a:lnTo>
                    <a:pt x="19526" y="19526"/>
                  </a:lnTo>
                  <a:lnTo>
                    <a:pt x="5238" y="40719"/>
                  </a:lnTo>
                  <a:lnTo>
                    <a:pt x="0" y="66675"/>
                  </a:lnTo>
                  <a:lnTo>
                    <a:pt x="0" y="430148"/>
                  </a:lnTo>
                  <a:lnTo>
                    <a:pt x="5238" y="456104"/>
                  </a:lnTo>
                  <a:lnTo>
                    <a:pt x="19526" y="477297"/>
                  </a:lnTo>
                  <a:lnTo>
                    <a:pt x="40719" y="491585"/>
                  </a:lnTo>
                  <a:lnTo>
                    <a:pt x="66675" y="496823"/>
                  </a:lnTo>
                  <a:lnTo>
                    <a:pt x="433197" y="496823"/>
                  </a:lnTo>
                  <a:lnTo>
                    <a:pt x="459152" y="491585"/>
                  </a:lnTo>
                  <a:lnTo>
                    <a:pt x="480345" y="477297"/>
                  </a:lnTo>
                  <a:lnTo>
                    <a:pt x="494633" y="456104"/>
                  </a:lnTo>
                  <a:lnTo>
                    <a:pt x="499872" y="430148"/>
                  </a:lnTo>
                  <a:lnTo>
                    <a:pt x="499872" y="66675"/>
                  </a:lnTo>
                  <a:lnTo>
                    <a:pt x="494633" y="40719"/>
                  </a:lnTo>
                  <a:lnTo>
                    <a:pt x="480345" y="19526"/>
                  </a:lnTo>
                  <a:lnTo>
                    <a:pt x="459152" y="5238"/>
                  </a:lnTo>
                  <a:lnTo>
                    <a:pt x="433197" y="0"/>
                  </a:lnTo>
                  <a:close/>
                </a:path>
              </a:pathLst>
            </a:custGeom>
            <a:solidFill>
              <a:srgbClr val="302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25570" y="4633036"/>
            <a:ext cx="19304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210" dirty="0">
                <a:solidFill>
                  <a:srgbClr val="FF716C"/>
                </a:solidFill>
                <a:latin typeface="Trebuchet MS"/>
                <a:cs typeface="Trebuchet MS"/>
              </a:rPr>
              <a:t>1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3782" y="5833109"/>
            <a:ext cx="289687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42695" algn="l"/>
              </a:tabLst>
            </a:pPr>
            <a:r>
              <a:rPr sz="2150" b="1" spc="-10" dirty="0">
                <a:solidFill>
                  <a:srgbClr val="FF716C"/>
                </a:solidFill>
                <a:latin typeface="Trebuchet MS"/>
                <a:cs typeface="Trebuchet MS"/>
              </a:rPr>
              <a:t>Platform	</a:t>
            </a:r>
            <a:r>
              <a:rPr sz="2150" b="1" spc="-110" dirty="0">
                <a:solidFill>
                  <a:srgbClr val="FF716C"/>
                </a:solidFill>
                <a:latin typeface="Trebuchet MS"/>
                <a:cs typeface="Trebuchet MS"/>
              </a:rPr>
              <a:t>Independence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6844" y="6374453"/>
            <a:ext cx="5181600" cy="10922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33500"/>
              </a:lnSpc>
              <a:spcBef>
                <a:spcPts val="85"/>
              </a:spcBef>
            </a:pP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Java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code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can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DAD1E6"/>
                </a:solidFill>
                <a:latin typeface="Trebuchet MS"/>
                <a:cs typeface="Trebuchet MS"/>
              </a:rPr>
              <a:t>run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75" dirty="0">
                <a:solidFill>
                  <a:srgbClr val="DAD1E6"/>
                </a:solidFill>
                <a:latin typeface="Trebuchet MS"/>
                <a:cs typeface="Trebuchet MS"/>
              </a:rPr>
              <a:t>on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any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platform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with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Java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DAD1E6"/>
                </a:solidFill>
                <a:latin typeface="Trebuchet MS"/>
                <a:cs typeface="Trebuchet MS"/>
              </a:rPr>
              <a:t>Virtual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Machine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support,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eliminating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the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need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 </a:t>
            </a:r>
            <a:r>
              <a:rPr sz="1750" spc="-10" dirty="0">
                <a:solidFill>
                  <a:srgbClr val="DAD1E6"/>
                </a:solidFill>
                <a:latin typeface="Trebuchet MS"/>
                <a:cs typeface="Trebuchet MS"/>
              </a:rPr>
              <a:t>re-write </a:t>
            </a:r>
            <a:r>
              <a:rPr sz="1750" spc="-5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applications</a:t>
            </a:r>
            <a:r>
              <a:rPr sz="1750" spc="-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for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each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individual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platform.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65264" y="4053840"/>
            <a:ext cx="500380" cy="1021080"/>
            <a:chOff x="7065264" y="4053840"/>
            <a:chExt cx="500380" cy="1021080"/>
          </a:xfrm>
        </p:grpSpPr>
        <p:sp>
          <p:nvSpPr>
            <p:cNvPr id="10" name="object 10"/>
            <p:cNvSpPr/>
            <p:nvPr/>
          </p:nvSpPr>
          <p:spPr>
            <a:xfrm>
              <a:off x="7307580" y="4053840"/>
              <a:ext cx="15240" cy="772795"/>
            </a:xfrm>
            <a:custGeom>
              <a:avLst/>
              <a:gdLst/>
              <a:ahLst/>
              <a:cxnLst/>
              <a:rect l="l" t="t" r="r" b="b"/>
              <a:pathLst>
                <a:path w="15240" h="772795">
                  <a:moveTo>
                    <a:pt x="15240" y="0"/>
                  </a:moveTo>
                  <a:lnTo>
                    <a:pt x="0" y="0"/>
                  </a:lnTo>
                  <a:lnTo>
                    <a:pt x="0" y="772667"/>
                  </a:lnTo>
                  <a:lnTo>
                    <a:pt x="15240" y="77266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FF6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65264" y="4578096"/>
              <a:ext cx="500380" cy="497205"/>
            </a:xfrm>
            <a:custGeom>
              <a:avLst/>
              <a:gdLst/>
              <a:ahLst/>
              <a:cxnLst/>
              <a:rect l="l" t="t" r="r" b="b"/>
              <a:pathLst>
                <a:path w="500379" h="497204">
                  <a:moveTo>
                    <a:pt x="433196" y="0"/>
                  </a:moveTo>
                  <a:lnTo>
                    <a:pt x="66675" y="0"/>
                  </a:lnTo>
                  <a:lnTo>
                    <a:pt x="40719" y="5238"/>
                  </a:lnTo>
                  <a:lnTo>
                    <a:pt x="19526" y="19526"/>
                  </a:lnTo>
                  <a:lnTo>
                    <a:pt x="5238" y="40719"/>
                  </a:lnTo>
                  <a:lnTo>
                    <a:pt x="0" y="66675"/>
                  </a:lnTo>
                  <a:lnTo>
                    <a:pt x="0" y="430148"/>
                  </a:lnTo>
                  <a:lnTo>
                    <a:pt x="5238" y="456104"/>
                  </a:lnTo>
                  <a:lnTo>
                    <a:pt x="19526" y="477297"/>
                  </a:lnTo>
                  <a:lnTo>
                    <a:pt x="40719" y="491585"/>
                  </a:lnTo>
                  <a:lnTo>
                    <a:pt x="66675" y="496823"/>
                  </a:lnTo>
                  <a:lnTo>
                    <a:pt x="433196" y="496823"/>
                  </a:lnTo>
                  <a:lnTo>
                    <a:pt x="459152" y="491585"/>
                  </a:lnTo>
                  <a:lnTo>
                    <a:pt x="480345" y="477297"/>
                  </a:lnTo>
                  <a:lnTo>
                    <a:pt x="494633" y="456104"/>
                  </a:lnTo>
                  <a:lnTo>
                    <a:pt x="499871" y="430148"/>
                  </a:lnTo>
                  <a:lnTo>
                    <a:pt x="499871" y="66675"/>
                  </a:lnTo>
                  <a:lnTo>
                    <a:pt x="494633" y="40719"/>
                  </a:lnTo>
                  <a:lnTo>
                    <a:pt x="480345" y="19526"/>
                  </a:lnTo>
                  <a:lnTo>
                    <a:pt x="459152" y="5238"/>
                  </a:lnTo>
                  <a:lnTo>
                    <a:pt x="433196" y="0"/>
                  </a:lnTo>
                  <a:close/>
                </a:path>
              </a:pathLst>
            </a:custGeom>
            <a:solidFill>
              <a:srgbClr val="302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22363" y="4633036"/>
            <a:ext cx="19304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210" dirty="0">
                <a:solidFill>
                  <a:srgbClr val="FF716C"/>
                </a:solidFill>
                <a:latin typeface="Trebuchet MS"/>
                <a:cs typeface="Trebuchet MS"/>
              </a:rPr>
              <a:t>2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2658" y="1870964"/>
            <a:ext cx="5624830" cy="1988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30"/>
              </a:spcBef>
              <a:tabLst>
                <a:tab pos="1099185" algn="l"/>
              </a:tabLst>
            </a:pPr>
            <a:r>
              <a:rPr sz="2150" b="1" spc="-100" dirty="0">
                <a:solidFill>
                  <a:srgbClr val="FF716C"/>
                </a:solidFill>
                <a:latin typeface="Trebuchet MS"/>
                <a:cs typeface="Trebuchet MS"/>
              </a:rPr>
              <a:t>Garbage	</a:t>
            </a:r>
            <a:r>
              <a:rPr sz="2150" b="1" spc="60" dirty="0">
                <a:solidFill>
                  <a:srgbClr val="FF716C"/>
                </a:solidFill>
                <a:latin typeface="Trebuchet MS"/>
                <a:cs typeface="Trebuchet MS"/>
              </a:rPr>
              <a:t>Collection</a:t>
            </a:r>
            <a:endParaRPr sz="2150">
              <a:latin typeface="Trebuchet MS"/>
              <a:cs typeface="Trebuchet MS"/>
            </a:endParaRPr>
          </a:p>
          <a:p>
            <a:pPr marL="12700" marR="5080" algn="ctr">
              <a:lnSpc>
                <a:spcPct val="133400"/>
              </a:lnSpc>
              <a:spcBef>
                <a:spcPts val="1645"/>
              </a:spcBef>
            </a:pP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Java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automatically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DAD1E6"/>
                </a:solidFill>
                <a:latin typeface="Trebuchet MS"/>
                <a:cs typeface="Trebuchet MS"/>
              </a:rPr>
              <a:t>manages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memory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allocation,</a:t>
            </a:r>
            <a:r>
              <a:rPr sz="1750" spc="-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freeing </a:t>
            </a:r>
            <a:r>
              <a:rPr sz="1750" spc="-5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developers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from </a:t>
            </a:r>
            <a:r>
              <a:rPr sz="1750" spc="40" dirty="0">
                <a:solidFill>
                  <a:srgbClr val="DAD1E6"/>
                </a:solidFill>
                <a:latin typeface="Trebuchet MS"/>
                <a:cs typeface="Trebuchet MS"/>
              </a:rPr>
              <a:t>manual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memory management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tasks.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DAD1E6"/>
                </a:solidFill>
                <a:latin typeface="Trebuchet MS"/>
                <a:cs typeface="Trebuchet MS"/>
              </a:rPr>
              <a:t>However,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this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feature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can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lead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slower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execution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 </a:t>
            </a:r>
            <a:r>
              <a:rPr sz="1750" spc="-5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increased</a:t>
            </a:r>
            <a:r>
              <a:rPr sz="1750" spc="-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memory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usage.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361676" y="4578096"/>
            <a:ext cx="500380" cy="1019810"/>
            <a:chOff x="10361676" y="4578096"/>
            <a:chExt cx="500380" cy="1019810"/>
          </a:xfrm>
        </p:grpSpPr>
        <p:sp>
          <p:nvSpPr>
            <p:cNvPr id="15" name="object 15"/>
            <p:cNvSpPr/>
            <p:nvPr/>
          </p:nvSpPr>
          <p:spPr>
            <a:xfrm>
              <a:off x="10603992" y="4826508"/>
              <a:ext cx="15240" cy="771525"/>
            </a:xfrm>
            <a:custGeom>
              <a:avLst/>
              <a:gdLst/>
              <a:ahLst/>
              <a:cxnLst/>
              <a:rect l="l" t="t" r="r" b="b"/>
              <a:pathLst>
                <a:path w="15240" h="771525">
                  <a:moveTo>
                    <a:pt x="15240" y="0"/>
                  </a:moveTo>
                  <a:lnTo>
                    <a:pt x="0" y="0"/>
                  </a:lnTo>
                  <a:lnTo>
                    <a:pt x="0" y="771144"/>
                  </a:lnTo>
                  <a:lnTo>
                    <a:pt x="15240" y="771144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FF6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361676" y="4578096"/>
              <a:ext cx="500380" cy="497205"/>
            </a:xfrm>
            <a:custGeom>
              <a:avLst/>
              <a:gdLst/>
              <a:ahLst/>
              <a:cxnLst/>
              <a:rect l="l" t="t" r="r" b="b"/>
              <a:pathLst>
                <a:path w="500379" h="497204">
                  <a:moveTo>
                    <a:pt x="433197" y="0"/>
                  </a:moveTo>
                  <a:lnTo>
                    <a:pt x="66675" y="0"/>
                  </a:lnTo>
                  <a:lnTo>
                    <a:pt x="40719" y="5238"/>
                  </a:lnTo>
                  <a:lnTo>
                    <a:pt x="19526" y="19526"/>
                  </a:lnTo>
                  <a:lnTo>
                    <a:pt x="5238" y="40719"/>
                  </a:lnTo>
                  <a:lnTo>
                    <a:pt x="0" y="66675"/>
                  </a:lnTo>
                  <a:lnTo>
                    <a:pt x="0" y="430148"/>
                  </a:lnTo>
                  <a:lnTo>
                    <a:pt x="5238" y="456104"/>
                  </a:lnTo>
                  <a:lnTo>
                    <a:pt x="19526" y="477297"/>
                  </a:lnTo>
                  <a:lnTo>
                    <a:pt x="40719" y="491585"/>
                  </a:lnTo>
                  <a:lnTo>
                    <a:pt x="66675" y="496823"/>
                  </a:lnTo>
                  <a:lnTo>
                    <a:pt x="433197" y="496823"/>
                  </a:lnTo>
                  <a:lnTo>
                    <a:pt x="459152" y="491585"/>
                  </a:lnTo>
                  <a:lnTo>
                    <a:pt x="480345" y="477297"/>
                  </a:lnTo>
                  <a:lnTo>
                    <a:pt x="494633" y="456104"/>
                  </a:lnTo>
                  <a:lnTo>
                    <a:pt x="499872" y="430148"/>
                  </a:lnTo>
                  <a:lnTo>
                    <a:pt x="499872" y="66675"/>
                  </a:lnTo>
                  <a:lnTo>
                    <a:pt x="494633" y="40719"/>
                  </a:lnTo>
                  <a:lnTo>
                    <a:pt x="480345" y="19526"/>
                  </a:lnTo>
                  <a:lnTo>
                    <a:pt x="459152" y="5238"/>
                  </a:lnTo>
                  <a:lnTo>
                    <a:pt x="433197" y="0"/>
                  </a:lnTo>
                  <a:close/>
                </a:path>
              </a:pathLst>
            </a:custGeom>
            <a:solidFill>
              <a:srgbClr val="302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519029" y="4633036"/>
            <a:ext cx="193040" cy="4267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-210" dirty="0">
                <a:solidFill>
                  <a:srgbClr val="FF716C"/>
                </a:solidFill>
                <a:latin typeface="Trebuchet MS"/>
                <a:cs typeface="Trebuchet MS"/>
              </a:rPr>
              <a:t>3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44633" y="5833109"/>
            <a:ext cx="194437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45235" algn="l"/>
              </a:tabLst>
            </a:pPr>
            <a:r>
              <a:rPr sz="2150" b="1" spc="-110" dirty="0">
                <a:solidFill>
                  <a:srgbClr val="FF716C"/>
                </a:solidFill>
                <a:latin typeface="Trebuchet MS"/>
                <a:cs typeface="Trebuchet MS"/>
              </a:rPr>
              <a:t>L</a:t>
            </a:r>
            <a:r>
              <a:rPr sz="2150" b="1" spc="-155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r>
              <a:rPr sz="2150" b="1" spc="-80" dirty="0">
                <a:solidFill>
                  <a:srgbClr val="FF716C"/>
                </a:solidFill>
                <a:latin typeface="Trebuchet MS"/>
                <a:cs typeface="Trebuchet MS"/>
              </a:rPr>
              <a:t>a</a:t>
            </a:r>
            <a:r>
              <a:rPr sz="2150" b="1" spc="160" dirty="0">
                <a:solidFill>
                  <a:srgbClr val="FF716C"/>
                </a:solidFill>
                <a:latin typeface="Trebuchet MS"/>
                <a:cs typeface="Trebuchet MS"/>
              </a:rPr>
              <a:t>r</a:t>
            </a:r>
            <a:r>
              <a:rPr sz="2150" b="1" spc="-204" dirty="0">
                <a:solidFill>
                  <a:srgbClr val="FF716C"/>
                </a:solidFill>
                <a:latin typeface="Trebuchet MS"/>
                <a:cs typeface="Trebuchet MS"/>
              </a:rPr>
              <a:t>n</a:t>
            </a:r>
            <a:r>
              <a:rPr sz="2150" b="1" spc="440" dirty="0">
                <a:solidFill>
                  <a:srgbClr val="FF716C"/>
                </a:solidFill>
                <a:latin typeface="Trebuchet MS"/>
                <a:cs typeface="Trebuchet MS"/>
              </a:rPr>
              <a:t>i</a:t>
            </a:r>
            <a:r>
              <a:rPr sz="2150" b="1" spc="-190" dirty="0">
                <a:solidFill>
                  <a:srgbClr val="FF716C"/>
                </a:solidFill>
                <a:latin typeface="Trebuchet MS"/>
                <a:cs typeface="Trebuchet MS"/>
              </a:rPr>
              <a:t>n</a:t>
            </a:r>
            <a:r>
              <a:rPr sz="2150" b="1" spc="10" dirty="0">
                <a:solidFill>
                  <a:srgbClr val="FF716C"/>
                </a:solidFill>
                <a:latin typeface="Trebuchet MS"/>
                <a:cs typeface="Trebuchet MS"/>
              </a:rPr>
              <a:t>g</a:t>
            </a:r>
            <a:r>
              <a:rPr sz="2150" b="1" dirty="0">
                <a:solidFill>
                  <a:srgbClr val="FF716C"/>
                </a:solidFill>
                <a:latin typeface="Trebuchet MS"/>
                <a:cs typeface="Trebuchet MS"/>
              </a:rPr>
              <a:t>	</a:t>
            </a:r>
            <a:r>
              <a:rPr sz="2150" b="1" spc="-250" dirty="0">
                <a:solidFill>
                  <a:srgbClr val="FF716C"/>
                </a:solidFill>
                <a:latin typeface="Trebuchet MS"/>
                <a:cs typeface="Trebuchet MS"/>
              </a:rPr>
              <a:t>C</a:t>
            </a:r>
            <a:r>
              <a:rPr sz="2150" b="1" spc="-204" dirty="0">
                <a:solidFill>
                  <a:srgbClr val="FF716C"/>
                </a:solidFill>
                <a:latin typeface="Trebuchet MS"/>
                <a:cs typeface="Trebuchet MS"/>
              </a:rPr>
              <a:t>u</a:t>
            </a:r>
            <a:r>
              <a:rPr sz="2150" b="1" spc="160" dirty="0">
                <a:solidFill>
                  <a:srgbClr val="FF716C"/>
                </a:solidFill>
                <a:latin typeface="Trebuchet MS"/>
                <a:cs typeface="Trebuchet MS"/>
              </a:rPr>
              <a:t>r</a:t>
            </a:r>
            <a:r>
              <a:rPr sz="2150" b="1" spc="-55" dirty="0">
                <a:solidFill>
                  <a:srgbClr val="FF716C"/>
                </a:solidFill>
                <a:latin typeface="Trebuchet MS"/>
                <a:cs typeface="Trebuchet MS"/>
              </a:rPr>
              <a:t>v</a:t>
            </a:r>
            <a:r>
              <a:rPr sz="2150" b="1" spc="-145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5673" y="6374453"/>
            <a:ext cx="5613400" cy="7353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Java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was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DAD1E6"/>
                </a:solidFill>
                <a:latin typeface="Trebuchet MS"/>
                <a:cs typeface="Trebuchet MS"/>
              </a:rPr>
              <a:t>designed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be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more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beginner-friendly</a:t>
            </a:r>
            <a:r>
              <a:rPr sz="1750" spc="-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than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45" dirty="0">
                <a:solidFill>
                  <a:srgbClr val="DAD1E6"/>
                </a:solidFill>
                <a:latin typeface="Trebuchet MS"/>
                <a:cs typeface="Trebuchet MS"/>
              </a:rPr>
              <a:t>C,</a:t>
            </a:r>
            <a:endParaRPr sz="17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sz="1750" spc="-10" dirty="0">
                <a:solidFill>
                  <a:srgbClr val="DAD1E6"/>
                </a:solidFill>
                <a:latin typeface="Trebuchet MS"/>
                <a:cs typeface="Trebuchet MS"/>
              </a:rPr>
              <a:t>with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simple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syntax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that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DAD1E6"/>
                </a:solidFill>
                <a:latin typeface="Trebuchet MS"/>
                <a:cs typeface="Trebuchet MS"/>
              </a:rPr>
              <a:t>is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easier</a:t>
            </a:r>
            <a:r>
              <a:rPr sz="1750" spc="-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read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write.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33627" y="2347414"/>
          <a:ext cx="12960984" cy="35672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873">
                <a:tc>
                  <a:txBody>
                    <a:bodyPr/>
                    <a:lstStyle/>
                    <a:p>
                      <a:pPr marL="90805">
                        <a:lnSpc>
                          <a:spcPts val="4630"/>
                        </a:lnSpc>
                      </a:pPr>
                      <a:r>
                        <a:rPr sz="4350" b="1" spc="-229" dirty="0">
                          <a:solidFill>
                            <a:srgbClr val="FF716C"/>
                          </a:solidFill>
                          <a:latin typeface="Trebuchet MS"/>
                          <a:cs typeface="Trebuchet MS"/>
                        </a:rPr>
                        <a:t>Performance</a:t>
                      </a:r>
                      <a:endParaRPr sz="43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231630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4630"/>
                        </a:lnSpc>
                      </a:pPr>
                      <a:r>
                        <a:rPr sz="4350" b="1" spc="-229" dirty="0">
                          <a:solidFill>
                            <a:srgbClr val="FF716C"/>
                          </a:solidFill>
                          <a:latin typeface="Trebuchet MS"/>
                          <a:cs typeface="Trebuchet MS"/>
                        </a:rPr>
                        <a:t>Comparison</a:t>
                      </a:r>
                      <a:endParaRPr sz="43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solidFill>
                      <a:srgbClr val="2316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23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313690">
                        <a:lnSpc>
                          <a:spcPct val="100000"/>
                        </a:lnSpc>
                      </a:pPr>
                      <a:r>
                        <a:rPr sz="1750" spc="-1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Factor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solidFill>
                      <a:srgbClr val="2316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406525">
                        <a:lnSpc>
                          <a:spcPct val="100000"/>
                        </a:lnSpc>
                      </a:pPr>
                      <a:r>
                        <a:rPr sz="175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solidFill>
                      <a:srgbClr val="2316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429385">
                        <a:lnSpc>
                          <a:spcPct val="100000"/>
                        </a:lnSpc>
                      </a:pPr>
                      <a:r>
                        <a:rPr sz="1750" spc="-6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Java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solidFill>
                      <a:srgbClr val="23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59"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750" spc="4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Memory</a:t>
                      </a:r>
                      <a:r>
                        <a:rPr sz="1750" spc="-11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50" spc="35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Management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solidFill>
                      <a:srgbClr val="302040"/>
                    </a:solidFill>
                  </a:tcPr>
                </a:tc>
                <a:tc>
                  <a:txBody>
                    <a:bodyPr/>
                    <a:lstStyle/>
                    <a:p>
                      <a:pPr marL="140652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750" spc="5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Manual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solidFill>
                      <a:srgbClr val="302040"/>
                    </a:solidFill>
                  </a:tcPr>
                </a:tc>
                <a:tc>
                  <a:txBody>
                    <a:bodyPr/>
                    <a:lstStyle/>
                    <a:p>
                      <a:pPr marL="142938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75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Automatic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solidFill>
                      <a:srgbClr val="30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r>
                        <a:rPr sz="1750" spc="1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Execution</a:t>
                      </a:r>
                      <a:r>
                        <a:rPr sz="1750" spc="-13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50" spc="5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Speed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0504" marB="0">
                    <a:solidFill>
                      <a:srgbClr val="231630"/>
                    </a:solidFill>
                  </a:tcPr>
                </a:tc>
                <a:tc>
                  <a:txBody>
                    <a:bodyPr/>
                    <a:lstStyle/>
                    <a:p>
                      <a:pPr marL="1406525"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r>
                        <a:rPr sz="175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Faster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0504" marB="0">
                    <a:solidFill>
                      <a:srgbClr val="231630"/>
                    </a:solidFill>
                  </a:tcPr>
                </a:tc>
                <a:tc>
                  <a:txBody>
                    <a:bodyPr/>
                    <a:lstStyle/>
                    <a:p>
                      <a:pPr marL="1429385">
                        <a:lnSpc>
                          <a:spcPct val="100000"/>
                        </a:lnSpc>
                        <a:spcBef>
                          <a:spcPts val="1814"/>
                        </a:spcBef>
                      </a:pPr>
                      <a:r>
                        <a:rPr sz="1750" spc="25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Slower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0504" marB="0">
                    <a:solidFill>
                      <a:srgbClr val="231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59"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750" spc="1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Platform</a:t>
                      </a:r>
                      <a:r>
                        <a:rPr sz="1750" spc="-11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50" spc="35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Independence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solidFill>
                      <a:srgbClr val="302040"/>
                    </a:solidFill>
                  </a:tcPr>
                </a:tc>
                <a:tc>
                  <a:txBody>
                    <a:bodyPr/>
                    <a:lstStyle/>
                    <a:p>
                      <a:pPr marL="140652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750" spc="-15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Difficult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solidFill>
                      <a:srgbClr val="302040"/>
                    </a:solidFill>
                  </a:tcPr>
                </a:tc>
                <a:tc>
                  <a:txBody>
                    <a:bodyPr/>
                    <a:lstStyle/>
                    <a:p>
                      <a:pPr marL="1429385">
                        <a:lnSpc>
                          <a:spcPct val="100000"/>
                        </a:lnSpc>
                        <a:spcBef>
                          <a:spcPts val="1820"/>
                        </a:spcBef>
                      </a:pPr>
                      <a:r>
                        <a:rPr sz="1750" spc="10" dirty="0">
                          <a:solidFill>
                            <a:srgbClr val="DAD1E6"/>
                          </a:solidFill>
                          <a:latin typeface="Trebuchet MS"/>
                          <a:cs typeface="Trebuchet MS"/>
                        </a:rPr>
                        <a:t>Effortless</a:t>
                      </a:r>
                      <a:endParaRPr sz="1750">
                        <a:latin typeface="Trebuchet MS"/>
                        <a:cs typeface="Trebuchet MS"/>
                      </a:endParaRPr>
                    </a:p>
                  </a:txBody>
                  <a:tcPr marL="0" marR="0" marT="231140" marB="0">
                    <a:solidFill>
                      <a:srgbClr val="30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63" y="1645742"/>
            <a:ext cx="2761615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20" dirty="0"/>
              <a:t>C</a:t>
            </a:r>
            <a:r>
              <a:rPr spc="-320" dirty="0"/>
              <a:t>o</a:t>
            </a:r>
            <a:r>
              <a:rPr spc="-415" dirty="0"/>
              <a:t>n</a:t>
            </a:r>
            <a:r>
              <a:rPr spc="-80" dirty="0"/>
              <a:t>c</a:t>
            </a:r>
            <a:r>
              <a:rPr spc="860" dirty="0"/>
              <a:t>l</a:t>
            </a:r>
            <a:r>
              <a:rPr spc="-425" dirty="0"/>
              <a:t>u</a:t>
            </a:r>
            <a:r>
              <a:rPr spc="270" dirty="0"/>
              <a:t>s</a:t>
            </a:r>
            <a:r>
              <a:rPr spc="855" dirty="0"/>
              <a:t>i</a:t>
            </a:r>
            <a:r>
              <a:rPr spc="-320" dirty="0"/>
              <a:t>o</a:t>
            </a:r>
            <a:r>
              <a:rPr spc="-380" dirty="0"/>
              <a:t>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5924" y="2775204"/>
            <a:ext cx="1278890" cy="3749040"/>
            <a:chOff x="915924" y="2775204"/>
            <a:chExt cx="1278890" cy="3749040"/>
          </a:xfrm>
        </p:grpSpPr>
        <p:sp>
          <p:nvSpPr>
            <p:cNvPr id="4" name="object 4"/>
            <p:cNvSpPr/>
            <p:nvPr/>
          </p:nvSpPr>
          <p:spPr>
            <a:xfrm>
              <a:off x="1158240" y="2775203"/>
              <a:ext cx="1036319" cy="3749040"/>
            </a:xfrm>
            <a:custGeom>
              <a:avLst/>
              <a:gdLst/>
              <a:ahLst/>
              <a:cxnLst/>
              <a:rect l="l" t="t" r="r" b="b"/>
              <a:pathLst>
                <a:path w="1036319" h="3749040">
                  <a:moveTo>
                    <a:pt x="15240" y="0"/>
                  </a:moveTo>
                  <a:lnTo>
                    <a:pt x="0" y="0"/>
                  </a:lnTo>
                  <a:lnTo>
                    <a:pt x="0" y="3749040"/>
                  </a:lnTo>
                  <a:lnTo>
                    <a:pt x="15240" y="3749040"/>
                  </a:lnTo>
                  <a:lnTo>
                    <a:pt x="15240" y="0"/>
                  </a:lnTo>
                  <a:close/>
                </a:path>
                <a:path w="1036319" h="3749040">
                  <a:moveTo>
                    <a:pt x="1036320" y="413004"/>
                  </a:moveTo>
                  <a:lnTo>
                    <a:pt x="257556" y="413004"/>
                  </a:lnTo>
                  <a:lnTo>
                    <a:pt x="257556" y="428244"/>
                  </a:lnTo>
                  <a:lnTo>
                    <a:pt x="1036320" y="428244"/>
                  </a:lnTo>
                  <a:lnTo>
                    <a:pt x="1036320" y="413004"/>
                  </a:lnTo>
                  <a:close/>
                </a:path>
              </a:pathLst>
            </a:custGeom>
            <a:solidFill>
              <a:srgbClr val="FF6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924" y="2947416"/>
              <a:ext cx="500380" cy="497205"/>
            </a:xfrm>
            <a:custGeom>
              <a:avLst/>
              <a:gdLst/>
              <a:ahLst/>
              <a:cxnLst/>
              <a:rect l="l" t="t" r="r" b="b"/>
              <a:pathLst>
                <a:path w="500380" h="497204">
                  <a:moveTo>
                    <a:pt x="433197" y="0"/>
                  </a:moveTo>
                  <a:lnTo>
                    <a:pt x="66738" y="0"/>
                  </a:lnTo>
                  <a:lnTo>
                    <a:pt x="40762" y="5238"/>
                  </a:lnTo>
                  <a:lnTo>
                    <a:pt x="19548" y="19526"/>
                  </a:lnTo>
                  <a:lnTo>
                    <a:pt x="5245" y="40719"/>
                  </a:lnTo>
                  <a:lnTo>
                    <a:pt x="0" y="66675"/>
                  </a:lnTo>
                  <a:lnTo>
                    <a:pt x="0" y="430149"/>
                  </a:lnTo>
                  <a:lnTo>
                    <a:pt x="5245" y="456104"/>
                  </a:lnTo>
                  <a:lnTo>
                    <a:pt x="19548" y="477297"/>
                  </a:lnTo>
                  <a:lnTo>
                    <a:pt x="40762" y="491585"/>
                  </a:lnTo>
                  <a:lnTo>
                    <a:pt x="66738" y="496824"/>
                  </a:lnTo>
                  <a:lnTo>
                    <a:pt x="433197" y="496824"/>
                  </a:lnTo>
                  <a:lnTo>
                    <a:pt x="459152" y="491585"/>
                  </a:lnTo>
                  <a:lnTo>
                    <a:pt x="480345" y="477297"/>
                  </a:lnTo>
                  <a:lnTo>
                    <a:pt x="494633" y="456104"/>
                  </a:lnTo>
                  <a:lnTo>
                    <a:pt x="499872" y="430149"/>
                  </a:lnTo>
                  <a:lnTo>
                    <a:pt x="499872" y="66675"/>
                  </a:lnTo>
                  <a:lnTo>
                    <a:pt x="494633" y="40719"/>
                  </a:lnTo>
                  <a:lnTo>
                    <a:pt x="480345" y="19526"/>
                  </a:lnTo>
                  <a:lnTo>
                    <a:pt x="459152" y="5238"/>
                  </a:lnTo>
                  <a:lnTo>
                    <a:pt x="433197" y="0"/>
                  </a:lnTo>
                  <a:close/>
                </a:path>
              </a:pathLst>
            </a:custGeom>
            <a:solidFill>
              <a:srgbClr val="302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72997" y="3002660"/>
            <a:ext cx="19240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210" dirty="0">
                <a:solidFill>
                  <a:srgbClr val="FF716C"/>
                </a:solidFill>
                <a:latin typeface="Trebuchet MS"/>
                <a:cs typeface="Trebuchet MS"/>
              </a:rPr>
              <a:t>1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7482" y="3009391"/>
            <a:ext cx="1666239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70280" algn="l"/>
                <a:tab pos="1242695" algn="l"/>
              </a:tabLst>
            </a:pPr>
            <a:r>
              <a:rPr sz="2150" b="1" spc="-240" dirty="0">
                <a:solidFill>
                  <a:srgbClr val="FF716C"/>
                </a:solidFill>
                <a:latin typeface="Trebuchet MS"/>
                <a:cs typeface="Trebuchet MS"/>
              </a:rPr>
              <a:t>C</a:t>
            </a:r>
            <a:r>
              <a:rPr sz="2150" b="1" spc="-200" dirty="0">
                <a:solidFill>
                  <a:srgbClr val="FF716C"/>
                </a:solidFill>
                <a:latin typeface="Trebuchet MS"/>
                <a:cs typeface="Trebuchet MS"/>
              </a:rPr>
              <a:t>h</a:t>
            </a:r>
            <a:r>
              <a:rPr sz="2150" b="1" spc="-150" dirty="0">
                <a:solidFill>
                  <a:srgbClr val="FF716C"/>
                </a:solidFill>
                <a:latin typeface="Trebuchet MS"/>
                <a:cs typeface="Trebuchet MS"/>
              </a:rPr>
              <a:t>o</a:t>
            </a:r>
            <a:r>
              <a:rPr sz="2150" b="1" spc="-140" dirty="0">
                <a:solidFill>
                  <a:srgbClr val="FF716C"/>
                </a:solidFill>
                <a:latin typeface="Trebuchet MS"/>
                <a:cs typeface="Trebuchet MS"/>
              </a:rPr>
              <a:t>o</a:t>
            </a:r>
            <a:r>
              <a:rPr sz="2150" b="1" spc="140" dirty="0">
                <a:solidFill>
                  <a:srgbClr val="FF716C"/>
                </a:solidFill>
                <a:latin typeface="Trebuchet MS"/>
                <a:cs typeface="Trebuchet MS"/>
              </a:rPr>
              <a:t>s</a:t>
            </a:r>
            <a:r>
              <a:rPr sz="2150" b="1" spc="-145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r>
              <a:rPr sz="2150" b="1" dirty="0">
                <a:solidFill>
                  <a:srgbClr val="FF716C"/>
                </a:solidFill>
                <a:latin typeface="Trebuchet MS"/>
                <a:cs typeface="Trebuchet MS"/>
              </a:rPr>
              <a:t>	</a:t>
            </a:r>
            <a:r>
              <a:rPr sz="2150" b="1" spc="-225" dirty="0">
                <a:solidFill>
                  <a:srgbClr val="FF716C"/>
                </a:solidFill>
                <a:latin typeface="Trebuchet MS"/>
                <a:cs typeface="Trebuchet MS"/>
              </a:rPr>
              <a:t>C</a:t>
            </a:r>
            <a:r>
              <a:rPr sz="2150" b="1" dirty="0">
                <a:solidFill>
                  <a:srgbClr val="FF716C"/>
                </a:solidFill>
                <a:latin typeface="Trebuchet MS"/>
                <a:cs typeface="Trebuchet MS"/>
              </a:rPr>
              <a:t>	</a:t>
            </a:r>
            <a:r>
              <a:rPr sz="2150" b="1" spc="425" dirty="0">
                <a:solidFill>
                  <a:srgbClr val="FF716C"/>
                </a:solidFill>
                <a:latin typeface="Trebuchet MS"/>
                <a:cs typeface="Trebuchet MS"/>
              </a:rPr>
              <a:t>i</a:t>
            </a:r>
            <a:r>
              <a:rPr sz="2150" b="1" spc="270" dirty="0">
                <a:solidFill>
                  <a:srgbClr val="FF716C"/>
                </a:solidFill>
                <a:latin typeface="Trebuchet MS"/>
                <a:cs typeface="Trebuchet MS"/>
              </a:rPr>
              <a:t>f</a:t>
            </a:r>
            <a:r>
              <a:rPr sz="2150" b="1" spc="300" dirty="0">
                <a:solidFill>
                  <a:srgbClr val="FF716C"/>
                </a:solidFill>
                <a:latin typeface="Trebuchet MS"/>
                <a:cs typeface="Trebuchet MS"/>
              </a:rPr>
              <a:t>: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67482" y="3550716"/>
            <a:ext cx="10944860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You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require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high-performance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programming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language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that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can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DAD1E6"/>
                </a:solidFill>
                <a:latin typeface="Trebuchet MS"/>
                <a:cs typeface="Trebuchet MS"/>
              </a:rPr>
              <a:t>interface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efficiently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15" dirty="0">
                <a:solidFill>
                  <a:srgbClr val="DAD1E6"/>
                </a:solidFill>
                <a:latin typeface="Trebuchet MS"/>
                <a:cs typeface="Trebuchet MS"/>
              </a:rPr>
              <a:t>with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hardware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DAD1E6"/>
                </a:solidFill>
                <a:latin typeface="Trebuchet MS"/>
                <a:cs typeface="Trebuchet MS"/>
              </a:rPr>
              <a:t>you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have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the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expertise</a:t>
            </a:r>
            <a:r>
              <a:rPr sz="1750" spc="-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implement</a:t>
            </a:r>
            <a:r>
              <a:rPr sz="1750" spc="-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low-level</a:t>
            </a:r>
            <a:r>
              <a:rPr sz="1750" spc="-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programming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functions.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5924" y="4931664"/>
            <a:ext cx="1278890" cy="497205"/>
            <a:chOff x="915924" y="4931664"/>
            <a:chExt cx="1278890" cy="497205"/>
          </a:xfrm>
        </p:grpSpPr>
        <p:sp>
          <p:nvSpPr>
            <p:cNvPr id="10" name="object 10"/>
            <p:cNvSpPr/>
            <p:nvPr/>
          </p:nvSpPr>
          <p:spPr>
            <a:xfrm>
              <a:off x="1415796" y="5172456"/>
              <a:ext cx="779145" cy="15240"/>
            </a:xfrm>
            <a:custGeom>
              <a:avLst/>
              <a:gdLst/>
              <a:ahLst/>
              <a:cxnLst/>
              <a:rect l="l" t="t" r="r" b="b"/>
              <a:pathLst>
                <a:path w="779144" h="15239">
                  <a:moveTo>
                    <a:pt x="778764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778764" y="15240"/>
                  </a:lnTo>
                  <a:lnTo>
                    <a:pt x="778764" y="0"/>
                  </a:lnTo>
                  <a:close/>
                </a:path>
              </a:pathLst>
            </a:custGeom>
            <a:solidFill>
              <a:srgbClr val="FF66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5924" y="4931664"/>
              <a:ext cx="500380" cy="497205"/>
            </a:xfrm>
            <a:custGeom>
              <a:avLst/>
              <a:gdLst/>
              <a:ahLst/>
              <a:cxnLst/>
              <a:rect l="l" t="t" r="r" b="b"/>
              <a:pathLst>
                <a:path w="500380" h="497204">
                  <a:moveTo>
                    <a:pt x="433197" y="0"/>
                  </a:moveTo>
                  <a:lnTo>
                    <a:pt x="66738" y="0"/>
                  </a:lnTo>
                  <a:lnTo>
                    <a:pt x="40762" y="5238"/>
                  </a:lnTo>
                  <a:lnTo>
                    <a:pt x="19548" y="19526"/>
                  </a:lnTo>
                  <a:lnTo>
                    <a:pt x="5245" y="40719"/>
                  </a:lnTo>
                  <a:lnTo>
                    <a:pt x="0" y="66675"/>
                  </a:lnTo>
                  <a:lnTo>
                    <a:pt x="0" y="430149"/>
                  </a:lnTo>
                  <a:lnTo>
                    <a:pt x="5245" y="456104"/>
                  </a:lnTo>
                  <a:lnTo>
                    <a:pt x="19548" y="477297"/>
                  </a:lnTo>
                  <a:lnTo>
                    <a:pt x="40762" y="491585"/>
                  </a:lnTo>
                  <a:lnTo>
                    <a:pt x="66738" y="496824"/>
                  </a:lnTo>
                  <a:lnTo>
                    <a:pt x="433197" y="496824"/>
                  </a:lnTo>
                  <a:lnTo>
                    <a:pt x="459152" y="491585"/>
                  </a:lnTo>
                  <a:lnTo>
                    <a:pt x="480345" y="477297"/>
                  </a:lnTo>
                  <a:lnTo>
                    <a:pt x="494633" y="456104"/>
                  </a:lnTo>
                  <a:lnTo>
                    <a:pt x="499872" y="430149"/>
                  </a:lnTo>
                  <a:lnTo>
                    <a:pt x="499872" y="66675"/>
                  </a:lnTo>
                  <a:lnTo>
                    <a:pt x="494633" y="40719"/>
                  </a:lnTo>
                  <a:lnTo>
                    <a:pt x="480345" y="19526"/>
                  </a:lnTo>
                  <a:lnTo>
                    <a:pt x="459152" y="5238"/>
                  </a:lnTo>
                  <a:lnTo>
                    <a:pt x="433197" y="0"/>
                  </a:lnTo>
                  <a:close/>
                </a:path>
              </a:pathLst>
            </a:custGeom>
            <a:solidFill>
              <a:srgbClr val="302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72997" y="4987797"/>
            <a:ext cx="19240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b="1" spc="-210" dirty="0">
                <a:solidFill>
                  <a:srgbClr val="FF716C"/>
                </a:solidFill>
                <a:latin typeface="Trebuchet MS"/>
                <a:cs typeface="Trebuchet MS"/>
              </a:rPr>
              <a:t>2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7482" y="4994909"/>
            <a:ext cx="207645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70280" algn="l"/>
                <a:tab pos="1651635" algn="l"/>
              </a:tabLst>
            </a:pPr>
            <a:r>
              <a:rPr sz="2150" b="1" spc="-240" dirty="0">
                <a:solidFill>
                  <a:srgbClr val="FF716C"/>
                </a:solidFill>
                <a:latin typeface="Trebuchet MS"/>
                <a:cs typeface="Trebuchet MS"/>
              </a:rPr>
              <a:t>C</a:t>
            </a:r>
            <a:r>
              <a:rPr sz="2150" b="1" spc="-200" dirty="0">
                <a:solidFill>
                  <a:srgbClr val="FF716C"/>
                </a:solidFill>
                <a:latin typeface="Trebuchet MS"/>
                <a:cs typeface="Trebuchet MS"/>
              </a:rPr>
              <a:t>h</a:t>
            </a:r>
            <a:r>
              <a:rPr sz="2150" b="1" spc="-150" dirty="0">
                <a:solidFill>
                  <a:srgbClr val="FF716C"/>
                </a:solidFill>
                <a:latin typeface="Trebuchet MS"/>
                <a:cs typeface="Trebuchet MS"/>
              </a:rPr>
              <a:t>o</a:t>
            </a:r>
            <a:r>
              <a:rPr sz="2150" b="1" spc="-140" dirty="0">
                <a:solidFill>
                  <a:srgbClr val="FF716C"/>
                </a:solidFill>
                <a:latin typeface="Trebuchet MS"/>
                <a:cs typeface="Trebuchet MS"/>
              </a:rPr>
              <a:t>o</a:t>
            </a:r>
            <a:r>
              <a:rPr sz="2150" b="1" spc="140" dirty="0">
                <a:solidFill>
                  <a:srgbClr val="FF716C"/>
                </a:solidFill>
                <a:latin typeface="Trebuchet MS"/>
                <a:cs typeface="Trebuchet MS"/>
              </a:rPr>
              <a:t>s</a:t>
            </a:r>
            <a:r>
              <a:rPr sz="2150" b="1" spc="-145" dirty="0">
                <a:solidFill>
                  <a:srgbClr val="FF716C"/>
                </a:solidFill>
                <a:latin typeface="Trebuchet MS"/>
                <a:cs typeface="Trebuchet MS"/>
              </a:rPr>
              <a:t>e</a:t>
            </a:r>
            <a:r>
              <a:rPr sz="2150" b="1" dirty="0">
                <a:solidFill>
                  <a:srgbClr val="FF716C"/>
                </a:solidFill>
                <a:latin typeface="Trebuchet MS"/>
                <a:cs typeface="Trebuchet MS"/>
              </a:rPr>
              <a:t>	</a:t>
            </a:r>
            <a:r>
              <a:rPr sz="2150" b="1" spc="-80" dirty="0">
                <a:solidFill>
                  <a:srgbClr val="FF716C"/>
                </a:solidFill>
                <a:latin typeface="Trebuchet MS"/>
                <a:cs typeface="Trebuchet MS"/>
              </a:rPr>
              <a:t>J</a:t>
            </a:r>
            <a:r>
              <a:rPr sz="2150" b="1" spc="-70" dirty="0">
                <a:solidFill>
                  <a:srgbClr val="FF716C"/>
                </a:solidFill>
                <a:latin typeface="Trebuchet MS"/>
                <a:cs typeface="Trebuchet MS"/>
              </a:rPr>
              <a:t>av</a:t>
            </a:r>
            <a:r>
              <a:rPr sz="2150" b="1" spc="-55" dirty="0">
                <a:solidFill>
                  <a:srgbClr val="FF716C"/>
                </a:solidFill>
                <a:latin typeface="Trebuchet MS"/>
                <a:cs typeface="Trebuchet MS"/>
              </a:rPr>
              <a:t>a</a:t>
            </a:r>
            <a:r>
              <a:rPr sz="2150" b="1" dirty="0">
                <a:solidFill>
                  <a:srgbClr val="FF716C"/>
                </a:solidFill>
                <a:latin typeface="Trebuchet MS"/>
                <a:cs typeface="Trebuchet MS"/>
              </a:rPr>
              <a:t>	</a:t>
            </a:r>
            <a:r>
              <a:rPr sz="2150" b="1" spc="434" dirty="0">
                <a:solidFill>
                  <a:srgbClr val="FF716C"/>
                </a:solidFill>
                <a:latin typeface="Trebuchet MS"/>
                <a:cs typeface="Trebuchet MS"/>
              </a:rPr>
              <a:t>i</a:t>
            </a:r>
            <a:r>
              <a:rPr sz="2150" b="1" spc="270" dirty="0">
                <a:solidFill>
                  <a:srgbClr val="FF716C"/>
                </a:solidFill>
                <a:latin typeface="Trebuchet MS"/>
                <a:cs typeface="Trebuchet MS"/>
              </a:rPr>
              <a:t>f</a:t>
            </a:r>
            <a:r>
              <a:rPr sz="2150" b="1" spc="300" dirty="0">
                <a:solidFill>
                  <a:srgbClr val="FF716C"/>
                </a:solidFill>
                <a:latin typeface="Trebuchet MS"/>
                <a:cs typeface="Trebuchet MS"/>
              </a:rPr>
              <a:t>: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67482" y="5535853"/>
            <a:ext cx="10922635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You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want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build</a:t>
            </a:r>
            <a:r>
              <a:rPr sz="1750" spc="-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software</a:t>
            </a:r>
            <a:r>
              <a:rPr sz="17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that</a:t>
            </a:r>
            <a:r>
              <a:rPr sz="1750" spc="-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can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0" dirty="0">
                <a:solidFill>
                  <a:srgbClr val="DAD1E6"/>
                </a:solidFill>
                <a:latin typeface="Trebuchet MS"/>
                <a:cs typeface="Trebuchet MS"/>
              </a:rPr>
              <a:t>be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0" dirty="0">
                <a:solidFill>
                  <a:srgbClr val="DAD1E6"/>
                </a:solidFill>
                <a:latin typeface="Trebuchet MS"/>
                <a:cs typeface="Trebuchet MS"/>
              </a:rPr>
              <a:t>easily</a:t>
            </a:r>
            <a:r>
              <a:rPr sz="1750" spc="-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25" dirty="0">
                <a:solidFill>
                  <a:srgbClr val="DAD1E6"/>
                </a:solidFill>
                <a:latin typeface="Trebuchet MS"/>
                <a:cs typeface="Trebuchet MS"/>
              </a:rPr>
              <a:t>ported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to</a:t>
            </a:r>
            <a:r>
              <a:rPr sz="1750" spc="-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multiple</a:t>
            </a:r>
            <a:r>
              <a:rPr sz="1750" spc="-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-5" dirty="0">
                <a:solidFill>
                  <a:srgbClr val="DAD1E6"/>
                </a:solidFill>
                <a:latin typeface="Trebuchet MS"/>
                <a:cs typeface="Trebuchet MS"/>
              </a:rPr>
              <a:t>platforms,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</a:t>
            </a:r>
            <a:r>
              <a:rPr sz="1750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45" dirty="0">
                <a:solidFill>
                  <a:srgbClr val="DAD1E6"/>
                </a:solidFill>
                <a:latin typeface="Trebuchet MS"/>
                <a:cs typeface="Trebuchet MS"/>
              </a:rPr>
              <a:t>you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5" dirty="0">
                <a:solidFill>
                  <a:srgbClr val="DAD1E6"/>
                </a:solidFill>
                <a:latin typeface="Trebuchet MS"/>
                <a:cs typeface="Trebuchet MS"/>
              </a:rPr>
              <a:t>value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DAD1E6"/>
                </a:solidFill>
                <a:latin typeface="Trebuchet MS"/>
                <a:cs typeface="Trebuchet MS"/>
              </a:rPr>
              <a:t>the</a:t>
            </a:r>
            <a:r>
              <a:rPr sz="1750" spc="-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simplicity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5" dirty="0">
                <a:solidFill>
                  <a:srgbClr val="DAD1E6"/>
                </a:solidFill>
                <a:latin typeface="Trebuchet MS"/>
                <a:cs typeface="Trebuchet MS"/>
              </a:rPr>
              <a:t>and </a:t>
            </a:r>
            <a:r>
              <a:rPr sz="1750" spc="-509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35" dirty="0">
                <a:solidFill>
                  <a:srgbClr val="DAD1E6"/>
                </a:solidFill>
                <a:latin typeface="Trebuchet MS"/>
                <a:cs typeface="Trebuchet MS"/>
              </a:rPr>
              <a:t>ease</a:t>
            </a:r>
            <a:r>
              <a:rPr sz="1750" spc="-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10" dirty="0">
                <a:solidFill>
                  <a:srgbClr val="DAD1E6"/>
                </a:solidFill>
                <a:latin typeface="Trebuchet MS"/>
                <a:cs typeface="Trebuchet MS"/>
              </a:rPr>
              <a:t>of</a:t>
            </a:r>
            <a:r>
              <a:rPr sz="1750" spc="-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750" spc="5" dirty="0">
                <a:solidFill>
                  <a:srgbClr val="DAD1E6"/>
                </a:solidFill>
                <a:latin typeface="Trebuchet MS"/>
                <a:cs typeface="Trebuchet MS"/>
              </a:rPr>
              <a:t>development.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63" y="2256281"/>
            <a:ext cx="4124960" cy="693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40" dirty="0"/>
              <a:t>Acknowledgement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4872" y="3460444"/>
            <a:ext cx="10904220" cy="182435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66040">
              <a:lnSpc>
                <a:spcPct val="80400"/>
              </a:lnSpc>
              <a:spcBef>
                <a:spcPts val="755"/>
              </a:spcBef>
            </a:pPr>
            <a:r>
              <a:rPr sz="2800" spc="-335" dirty="0">
                <a:solidFill>
                  <a:srgbClr val="EDEEF5"/>
                </a:solidFill>
                <a:latin typeface="Verdana"/>
                <a:cs typeface="Verdana"/>
              </a:rPr>
              <a:t>I</a:t>
            </a:r>
            <a:r>
              <a:rPr sz="2800" spc="-254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90" dirty="0">
                <a:solidFill>
                  <a:srgbClr val="EDEEF5"/>
                </a:solidFill>
                <a:latin typeface="Verdana"/>
                <a:cs typeface="Verdana"/>
              </a:rPr>
              <a:t>would</a:t>
            </a:r>
            <a:r>
              <a:rPr sz="2800" spc="-24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EDEEF5"/>
                </a:solidFill>
                <a:latin typeface="Verdana"/>
                <a:cs typeface="Verdana"/>
              </a:rPr>
              <a:t>like</a:t>
            </a:r>
            <a:r>
              <a:rPr sz="2800" spc="-25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45" dirty="0">
                <a:solidFill>
                  <a:srgbClr val="EDEEF5"/>
                </a:solidFill>
                <a:latin typeface="Verdana"/>
                <a:cs typeface="Verdana"/>
              </a:rPr>
              <a:t>to</a:t>
            </a:r>
            <a:r>
              <a:rPr sz="2800" spc="-254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EDEEF5"/>
                </a:solidFill>
                <a:latin typeface="Verdana"/>
                <a:cs typeface="Verdana"/>
              </a:rPr>
              <a:t>express</a:t>
            </a:r>
            <a:r>
              <a:rPr sz="2800" spc="-22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50" dirty="0">
                <a:solidFill>
                  <a:srgbClr val="EDEEF5"/>
                </a:solidFill>
                <a:latin typeface="Verdana"/>
                <a:cs typeface="Verdana"/>
              </a:rPr>
              <a:t>my</a:t>
            </a:r>
            <a:r>
              <a:rPr sz="2800" spc="-254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EDEEF5"/>
                </a:solidFill>
                <a:latin typeface="Verdana"/>
                <a:cs typeface="Verdana"/>
              </a:rPr>
              <a:t>special</a:t>
            </a:r>
            <a:r>
              <a:rPr sz="2800" spc="-25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EDEEF5"/>
                </a:solidFill>
                <a:latin typeface="Verdana"/>
                <a:cs typeface="Verdana"/>
              </a:rPr>
              <a:t>thanks</a:t>
            </a:r>
            <a:r>
              <a:rPr sz="2800" spc="-24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EDEEF5"/>
                </a:solidFill>
                <a:latin typeface="Verdana"/>
                <a:cs typeface="Verdana"/>
              </a:rPr>
              <a:t>of</a:t>
            </a:r>
            <a:r>
              <a:rPr sz="2800" spc="-25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45" dirty="0">
                <a:solidFill>
                  <a:srgbClr val="EDEEF5"/>
                </a:solidFill>
                <a:latin typeface="Verdana"/>
                <a:cs typeface="Verdana"/>
              </a:rPr>
              <a:t>gratitude</a:t>
            </a:r>
            <a:r>
              <a:rPr sz="2800" spc="-24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40" dirty="0">
                <a:solidFill>
                  <a:srgbClr val="EDEEF5"/>
                </a:solidFill>
                <a:latin typeface="Verdana"/>
                <a:cs typeface="Verdana"/>
              </a:rPr>
              <a:t>to</a:t>
            </a:r>
            <a:r>
              <a:rPr sz="2800" spc="-25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50" dirty="0">
                <a:solidFill>
                  <a:srgbClr val="EDEEF5"/>
                </a:solidFill>
                <a:latin typeface="Verdana"/>
                <a:cs typeface="Verdana"/>
              </a:rPr>
              <a:t>my </a:t>
            </a:r>
            <a:r>
              <a:rPr sz="2800" spc="5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EDEEF5"/>
                </a:solidFill>
                <a:latin typeface="Verdana"/>
                <a:cs typeface="Verdana"/>
              </a:rPr>
              <a:t>teacher</a:t>
            </a:r>
            <a:r>
              <a:rPr sz="2800" spc="-24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-20" dirty="0">
                <a:solidFill>
                  <a:srgbClr val="EDEEF5"/>
                </a:solidFill>
                <a:latin typeface="Verdana"/>
                <a:cs typeface="Verdana"/>
              </a:rPr>
              <a:t>for</a:t>
            </a:r>
            <a:r>
              <a:rPr sz="2800" spc="-24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20" dirty="0">
                <a:solidFill>
                  <a:srgbClr val="EDEEF5"/>
                </a:solidFill>
                <a:latin typeface="Verdana"/>
                <a:cs typeface="Verdana"/>
              </a:rPr>
              <a:t>her</a:t>
            </a:r>
            <a:r>
              <a:rPr sz="2800" spc="-24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30" dirty="0">
                <a:solidFill>
                  <a:srgbClr val="EDEEF5"/>
                </a:solidFill>
                <a:latin typeface="Verdana"/>
                <a:cs typeface="Verdana"/>
              </a:rPr>
              <a:t>able</a:t>
            </a:r>
            <a:r>
              <a:rPr sz="2800" spc="-25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80" dirty="0">
                <a:solidFill>
                  <a:srgbClr val="EDEEF5"/>
                </a:solidFill>
                <a:latin typeface="Verdana"/>
                <a:cs typeface="Verdana"/>
              </a:rPr>
              <a:t>guidance</a:t>
            </a:r>
            <a:r>
              <a:rPr sz="2800" spc="-23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80" dirty="0">
                <a:solidFill>
                  <a:srgbClr val="EDEEF5"/>
                </a:solidFill>
                <a:latin typeface="Verdana"/>
                <a:cs typeface="Verdana"/>
              </a:rPr>
              <a:t>and</a:t>
            </a:r>
            <a:r>
              <a:rPr sz="2800" spc="-25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45" dirty="0">
                <a:solidFill>
                  <a:srgbClr val="EDEEF5"/>
                </a:solidFill>
                <a:latin typeface="Verdana"/>
                <a:cs typeface="Verdana"/>
              </a:rPr>
              <a:t>support</a:t>
            </a:r>
            <a:r>
              <a:rPr sz="2800" spc="-21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50" dirty="0">
                <a:solidFill>
                  <a:srgbClr val="EDEEF5"/>
                </a:solidFill>
                <a:latin typeface="Verdana"/>
                <a:cs typeface="Verdana"/>
              </a:rPr>
              <a:t>in</a:t>
            </a:r>
            <a:r>
              <a:rPr sz="2800" spc="-254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85" dirty="0">
                <a:solidFill>
                  <a:srgbClr val="EDEEF5"/>
                </a:solidFill>
                <a:latin typeface="Verdana"/>
                <a:cs typeface="Verdana"/>
              </a:rPr>
              <a:t>completing</a:t>
            </a:r>
            <a:r>
              <a:rPr sz="2800" spc="-240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50" dirty="0">
                <a:solidFill>
                  <a:srgbClr val="EDEEF5"/>
                </a:solidFill>
                <a:latin typeface="Verdana"/>
                <a:cs typeface="Verdana"/>
              </a:rPr>
              <a:t>my </a:t>
            </a:r>
            <a:r>
              <a:rPr sz="2800" spc="-96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EDEEF5"/>
                </a:solidFill>
                <a:latin typeface="Verdana"/>
                <a:cs typeface="Verdana"/>
              </a:rPr>
              <a:t>presentation.</a:t>
            </a:r>
            <a:endParaRPr sz="28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2039"/>
              </a:spcBef>
            </a:pPr>
            <a:r>
              <a:rPr sz="2800" spc="-204" dirty="0">
                <a:solidFill>
                  <a:srgbClr val="EDEEF5"/>
                </a:solidFill>
                <a:latin typeface="Verdana"/>
                <a:cs typeface="Verdana"/>
              </a:rPr>
              <a:t>-</a:t>
            </a:r>
            <a:r>
              <a:rPr sz="2800" spc="-24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70" dirty="0">
                <a:solidFill>
                  <a:srgbClr val="EDEEF5"/>
                </a:solidFill>
                <a:latin typeface="Verdana"/>
                <a:cs typeface="Verdana"/>
              </a:rPr>
              <a:t>THANK</a:t>
            </a:r>
            <a:r>
              <a:rPr sz="2800" spc="-235" dirty="0">
                <a:solidFill>
                  <a:srgbClr val="EDEEF5"/>
                </a:solidFill>
                <a:latin typeface="Verdana"/>
                <a:cs typeface="Verdana"/>
              </a:rPr>
              <a:t> </a:t>
            </a:r>
            <a:r>
              <a:rPr sz="2800" spc="-35" dirty="0">
                <a:solidFill>
                  <a:srgbClr val="EDEEF5"/>
                </a:solidFill>
                <a:latin typeface="Verdana"/>
                <a:cs typeface="Verdana"/>
              </a:rPr>
              <a:t>YOU…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436</Words>
  <Application>Microsoft Office PowerPoint</Application>
  <PresentationFormat>Custom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Times New Roman</vt:lpstr>
      <vt:lpstr>Trebuchet MS</vt:lpstr>
      <vt:lpstr>Verdana</vt:lpstr>
      <vt:lpstr>Office Theme</vt:lpstr>
      <vt:lpstr>C vs Java:</vt:lpstr>
      <vt:lpstr>Overview of C and Java</vt:lpstr>
      <vt:lpstr>Pros and Cons of C</vt:lpstr>
      <vt:lpstr>Pros and Cons of Java</vt:lpstr>
      <vt:lpstr>PowerPoint Presentation</vt:lpstr>
      <vt:lpstr>Conclusion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</cp:lastModifiedBy>
  <cp:revision>3</cp:revision>
  <dcterms:created xsi:type="dcterms:W3CDTF">2023-08-03T17:20:27Z</dcterms:created>
  <dcterms:modified xsi:type="dcterms:W3CDTF">2023-08-03T20:06:24Z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2023-08-03T00:00:00Z</vt:filetime>
  </property>
</Properties>
</file>