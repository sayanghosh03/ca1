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152"/>
    <a:srgbClr val="000000"/>
    <a:srgbClr val="FEC200"/>
    <a:srgbClr val="604A7B"/>
    <a:srgbClr val="FFFF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91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51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146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099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704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048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95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56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74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246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812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386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3789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960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0200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923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064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914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36BF0C4-67CB-429E-9783-3E0364AF6933}" type="datetimeFigureOut">
              <a:rPr lang="en-IN" smtClean="0"/>
              <a:t>03-08-2023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F8DAFDA-EB5F-4B82-BD8F-92E302BE05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69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implilearn.com/data-structures-and-algorithms-articl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E2BD9-F805-959D-1117-D6FD3206B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943" y="840424"/>
            <a:ext cx="11038114" cy="3616438"/>
          </a:xfrm>
        </p:spPr>
        <p:txBody>
          <a:bodyPr>
            <a:noAutofit/>
          </a:bodyPr>
          <a:lstStyle/>
          <a:p>
            <a:pPr algn="ctr"/>
            <a:r>
              <a:rPr lang="en-US" sz="3600" b="1" u="sng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NAME: </a:t>
            </a:r>
            <a:r>
              <a:rPr lang="en-US" sz="3600" b="1" u="sng" dirty="0" err="1">
                <a:solidFill>
                  <a:srgbClr val="604A7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sayan</a:t>
            </a:r>
            <a:r>
              <a:rPr lang="en-US" sz="3600" b="1" u="sng" dirty="0">
                <a:solidFill>
                  <a:srgbClr val="604A7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</a:t>
            </a:r>
            <a:r>
              <a:rPr lang="en-US" sz="3600" b="1" u="sng" dirty="0" err="1">
                <a:solidFill>
                  <a:srgbClr val="604A7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ghosh</a:t>
            </a:r>
            <a:b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</a:br>
            <a:r>
              <a:rPr lang="en-US" sz="3600" b="1" u="sng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STREAM: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</a:t>
            </a:r>
            <a:r>
              <a:rPr lang="en-US" sz="3600" b="1" u="sng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BCA(2</a:t>
            </a:r>
            <a:r>
              <a:rPr lang="en-US" sz="3600" b="1" u="sng" baseline="3000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ND</a:t>
            </a:r>
            <a:r>
              <a:rPr lang="en-US" sz="3600" b="1" u="sng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YEAR)</a:t>
            </a:r>
            <a:br>
              <a:rPr lang="en-US" sz="3600" b="1" u="sng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</a:br>
            <a:r>
              <a:rPr lang="en-US" sz="3600" b="1" u="sng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SECTION:</a:t>
            </a:r>
            <a:r>
              <a:rPr lang="en-US" sz="3600" b="1" u="sng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gamma; </a:t>
            </a:r>
            <a:r>
              <a:rPr lang="en-US" sz="3600" b="1" u="sng" dirty="0">
                <a:solidFill>
                  <a:srgbClr val="40315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Sem: </a:t>
            </a:r>
            <a:r>
              <a:rPr lang="en-US" sz="3600" b="1" u="sng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3</a:t>
            </a:r>
            <a:r>
              <a:rPr lang="en-US" sz="3600" b="1" u="sng" baseline="3000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rd</a:t>
            </a:r>
            <a:b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</a:br>
            <a:r>
              <a:rPr lang="en-US" sz="3600" b="1" u="sng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PAPER NAME:</a:t>
            </a:r>
            <a:r>
              <a:rPr lang="en-US" sz="3600" b="1" u="sng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DATA STRUCTURE and algorithm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</a:br>
            <a:r>
              <a:rPr lang="en-US" sz="3600" b="1" u="sng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PAPER CODE: </a:t>
            </a:r>
            <a:r>
              <a:rPr lang="en-US" sz="3600" b="1" u="sng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BCAC 303</a:t>
            </a:r>
            <a:b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</a:br>
            <a:r>
              <a:rPr lang="en-US" sz="3600" b="1" u="sng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UNIVERSITY ROLL NO: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</a:t>
            </a:r>
            <a:r>
              <a:rPr lang="en-US" sz="3600" b="1" u="sng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15201222165</a:t>
            </a:r>
            <a:b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D20028-BDEB-2FA1-A9F9-2D56CA20C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943" y="4025321"/>
            <a:ext cx="9977535" cy="863082"/>
          </a:xfrm>
        </p:spPr>
        <p:txBody>
          <a:bodyPr>
            <a:normAutofit/>
          </a:bodyPr>
          <a:lstStyle/>
          <a:p>
            <a:pPr algn="ctr"/>
            <a:r>
              <a:rPr lang="en-US" sz="4800" b="1" u="sng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   TOPIC: </a:t>
            </a:r>
            <a:r>
              <a:rPr lang="en-US" sz="4800" b="1" u="sng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“LINKED LIST”</a:t>
            </a:r>
            <a:endParaRPr lang="en-IN" sz="4800" b="1" u="sng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146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864C0-2F4B-1BA1-DE0B-36A97453E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21" y="1267326"/>
            <a:ext cx="11726779" cy="545431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INTRODUCTION:   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  <a:t>Linked list is the most sought-after data structure when it comes to handling dynamic data elements. A linked list consists of a data element known as a node and each node consists of two fields</a:t>
            </a:r>
          </a:p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  <a:t>                 one field has data and in the second field ,the node ,the node has an address that keeps a reference to the next node.     </a:t>
            </a:r>
            <a:endParaRPr lang="en-IN" sz="3600" b="1" u="sng" dirty="0">
              <a:solidFill>
                <a:schemeClr val="accent6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CD2089-82B4-4275-B01F-C5AE019D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3933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PRESENTATION ON 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  “LINKED LIST”</a:t>
            </a:r>
            <a:endParaRPr lang="en-IN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307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F7D8-1D7E-0028-67DD-298C3464C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29993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what is a linked list?....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6773D-E341-FEBC-EB08-736127DE9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84" y="1625502"/>
            <a:ext cx="11626516" cy="4660232"/>
          </a:xfrm>
          <a:noFill/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5">
                    <a:lumMod val="75000"/>
                  </a:schemeClr>
                </a:solidFill>
                <a:effectLst/>
                <a:latin typeface="Algerian" panose="04020705040A02060702" pitchFamily="82" charset="0"/>
              </a:rPr>
              <a:t>A linked list is a linear </a:t>
            </a:r>
            <a:r>
              <a:rPr lang="en-US" sz="2400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Algerian" panose="04020705040A02060702" pitchFamily="82" charset="0"/>
                <a:hlinkClick r:id="rId2" tooltip="data stru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structure</a:t>
            </a:r>
            <a:r>
              <a:rPr lang="en-US" sz="2400" b="0" i="0" dirty="0">
                <a:solidFill>
                  <a:schemeClr val="accent5">
                    <a:lumMod val="75000"/>
                  </a:schemeClr>
                </a:solidFill>
                <a:effectLst/>
                <a:latin typeface="Algerian" panose="04020705040A02060702" pitchFamily="82" charset="0"/>
              </a:rPr>
              <a:t> that stores a collection of data elements dynamically.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5">
                    <a:lumMod val="75000"/>
                  </a:schemeClr>
                </a:solidFill>
                <a:effectLst/>
                <a:latin typeface="Algerian" panose="04020705040A02060702" pitchFamily="82" charset="0"/>
              </a:rPr>
              <a:t>Nodes represent those data elements, and links or pointers connect each node.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5">
                    <a:lumMod val="75000"/>
                  </a:schemeClr>
                </a:solidFill>
                <a:effectLst/>
                <a:latin typeface="Algerian" panose="04020705040A02060702" pitchFamily="82" charset="0"/>
              </a:rPr>
              <a:t>Each node consists of two fields, the information stored in a linked list and a pointer that stores the address of its next node.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5">
                    <a:lumMod val="75000"/>
                  </a:schemeClr>
                </a:solidFill>
                <a:effectLst/>
                <a:latin typeface="Algerian" panose="04020705040A02060702" pitchFamily="82" charset="0"/>
              </a:rPr>
              <a:t>The last node contains null in its second field because it will point to no node.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5">
                    <a:lumMod val="75000"/>
                  </a:schemeClr>
                </a:solidFill>
                <a:effectLst/>
                <a:latin typeface="Algerian" panose="04020705040A02060702" pitchFamily="82" charset="0"/>
              </a:rPr>
              <a:t>A linked list can grow and shrink its size, as per the requirement.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5">
                    <a:lumMod val="75000"/>
                  </a:schemeClr>
                </a:solidFill>
                <a:effectLst/>
                <a:latin typeface="Algerian" panose="04020705040A02060702" pitchFamily="82" charset="0"/>
              </a:rPr>
              <a:t>It does not waste memory space.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81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8B1D-94BA-E23D-2EA9-3A618E510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64" y="460764"/>
            <a:ext cx="11716335" cy="1801173"/>
          </a:xfrm>
        </p:spPr>
        <p:txBody>
          <a:bodyPr>
            <a:normAutofit/>
          </a:bodyPr>
          <a:lstStyle/>
          <a:p>
            <a:r>
              <a:rPr lang="en-US" sz="2800" b="1" u="sng" dirty="0">
                <a:latin typeface="Algerian" panose="04020705040A02060702" pitchFamily="82" charset="0"/>
              </a:rPr>
              <a:t>Representation of a linked list</a:t>
            </a:r>
            <a:r>
              <a:rPr lang="en-US" sz="2800" b="1" dirty="0">
                <a:latin typeface="Algerian" panose="04020705040A02060702" pitchFamily="82" charset="0"/>
              </a:rPr>
              <a:t>: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This representation of a linked list depicts that each node consists of two fields . The first field consists of data and the second field consists of pointers that point to another node.</a:t>
            </a:r>
            <a:endParaRPr lang="en-IN" sz="2400" b="1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5A2C05-C3B1-EDA8-04E6-04B16CDD1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65" y="2507067"/>
            <a:ext cx="10267950" cy="3890169"/>
          </a:xfrm>
        </p:spPr>
      </p:pic>
    </p:spTree>
    <p:extLst>
      <p:ext uri="{BB962C8B-B14F-4D97-AF65-F5344CB8AC3E}">
        <p14:creationId xmlns:p14="http://schemas.microsoft.com/office/powerpoint/2010/main" val="2581908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C9025-59CD-12E7-4FDC-98231B755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0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en-US" sz="66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Types of linked list:</a:t>
            </a:r>
            <a:endParaRPr lang="en-IN" sz="6600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B90D5-3FA0-43D0-E0A6-C0CFD37B1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439333"/>
            <a:ext cx="8534400" cy="3615267"/>
          </a:xfrm>
          <a:noFill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The linked list mainly has three types, they are: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               1. singly linked list 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               2. doubly linked list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               3. circular linked list</a:t>
            </a:r>
            <a:endParaRPr lang="en-IN" sz="4000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75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3C187-26D7-ABEF-235E-9B2D98A59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0238" y="210481"/>
            <a:ext cx="7911523" cy="150706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lgerian" panose="04020705040A02060702" pitchFamily="82" charset="0"/>
              </a:rPr>
              <a:t>Structure of linked list:</a:t>
            </a:r>
            <a:endParaRPr lang="en-IN" dirty="0">
              <a:solidFill>
                <a:schemeClr val="bg2">
                  <a:lumMod val="10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29A430-E5CF-DA2D-FFEF-EC410755B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238" y="1717548"/>
            <a:ext cx="7911523" cy="4784725"/>
          </a:xfrm>
        </p:spPr>
      </p:pic>
    </p:spTree>
    <p:extLst>
      <p:ext uri="{BB962C8B-B14F-4D97-AF65-F5344CB8AC3E}">
        <p14:creationId xmlns:p14="http://schemas.microsoft.com/office/powerpoint/2010/main" val="4289306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E2CE4-18F9-12F7-6995-FDFD69F40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183622"/>
            <a:ext cx="8982075" cy="150706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Array vs linked list: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2B107B-779F-BF95-19D0-432D0FFC6E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74" y="1690689"/>
            <a:ext cx="8982075" cy="4643436"/>
          </a:xfrm>
        </p:spPr>
      </p:pic>
    </p:spTree>
    <p:extLst>
      <p:ext uri="{BB962C8B-B14F-4D97-AF65-F5344CB8AC3E}">
        <p14:creationId xmlns:p14="http://schemas.microsoft.com/office/powerpoint/2010/main" val="21788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8A3AE-F8FA-4519-88AB-C4893A5BE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-67734"/>
            <a:ext cx="8534400" cy="1507067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Basic operation on linked list:</a:t>
            </a:r>
            <a:endParaRPr lang="en-IN" b="1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A5C24-1DB9-84B0-5446-156515BEF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439333"/>
            <a:ext cx="10288588" cy="4736878"/>
          </a:xfrm>
        </p:spPr>
        <p:txBody>
          <a:bodyPr>
            <a:normAutofit/>
          </a:bodyPr>
          <a:lstStyle/>
          <a:p>
            <a:pPr algn="just"/>
            <a:r>
              <a:rPr lang="en-US" sz="2400" b="1" i="0" dirty="0">
                <a:solidFill>
                  <a:srgbClr val="000000"/>
                </a:solidFill>
                <a:effectLst/>
                <a:latin typeface="Nunito" panose="020F0502020204030204" pitchFamily="2" charset="0"/>
              </a:rPr>
              <a:t>The basic operations in the linked lists are insertion, deletion, searching and display an element at a given key. These operations are performed on Singly Linked Lists as given below −</a:t>
            </a:r>
          </a:p>
          <a:p>
            <a:pPr marL="0" indent="0" algn="just">
              <a:buNone/>
            </a:pPr>
            <a:endParaRPr lang="en-US" sz="2400" b="1" i="0" dirty="0">
              <a:solidFill>
                <a:srgbClr val="000000"/>
              </a:solidFill>
              <a:effectLst/>
              <a:latin typeface="Nunito" panose="020F05020202040302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Nunito" panose="020F0502020204030204" pitchFamily="2" charset="0"/>
              </a:rPr>
              <a:t>Insertion − </a:t>
            </a:r>
            <a:r>
              <a:rPr 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unito" panose="020F0502020204030204" pitchFamily="2" charset="0"/>
              </a:rPr>
              <a:t>Adds an element at the beginning of the list.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Nunito" panose="020F0502020204030204" pitchFamily="2" charset="0"/>
              </a:rPr>
              <a:t>Deletion − </a:t>
            </a:r>
            <a:r>
              <a:rPr 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unito" panose="020F0502020204030204" pitchFamily="2" charset="0"/>
              </a:rPr>
              <a:t>Deletes an element at the beginning of the list.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Nunito" panose="020F0502020204030204" pitchFamily="2" charset="0"/>
              </a:rPr>
              <a:t>Display − </a:t>
            </a:r>
            <a:r>
              <a:rPr 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unito" panose="020F0502020204030204" pitchFamily="2" charset="0"/>
              </a:rPr>
              <a:t>Displays the complete list.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Nunito" panose="020F0502020204030204" pitchFamily="2" charset="0"/>
              </a:rPr>
              <a:t>Search − </a:t>
            </a:r>
            <a:r>
              <a:rPr 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unito" panose="020F0502020204030204" pitchFamily="2" charset="0"/>
              </a:rPr>
              <a:t>Searches an element using the given key</a:t>
            </a:r>
          </a:p>
          <a:p>
            <a:pPr marL="0" indent="0" algn="just">
              <a:buNone/>
            </a:pPr>
            <a:endParaRPr lang="en-US" sz="2400" b="1" i="0" dirty="0">
              <a:solidFill>
                <a:srgbClr val="000000"/>
              </a:solidFill>
              <a:effectLst/>
              <a:latin typeface="Nunito" panose="020F0502020204030204" pitchFamily="2" charset="0"/>
            </a:endParaRPr>
          </a:p>
          <a:p>
            <a:pPr marL="0" indent="0">
              <a:buNone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259736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7C897-0BF1-928F-B1F3-984EAEB44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486" y="172006"/>
            <a:ext cx="11304514" cy="1507067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Insertion operation 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&amp;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deletion operation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056081-3923-61E5-0B0F-C09281CEED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486" y="1953126"/>
            <a:ext cx="4530579" cy="3614738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A44584-0261-9B9E-BCF6-D0BA9892F7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23280"/>
            <a:ext cx="4933950" cy="2074429"/>
          </a:xfrm>
        </p:spPr>
      </p:pic>
    </p:spTree>
    <p:extLst>
      <p:ext uri="{BB962C8B-B14F-4D97-AF65-F5344CB8AC3E}">
        <p14:creationId xmlns:p14="http://schemas.microsoft.com/office/powerpoint/2010/main" val="505546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7BEB-DC1F-69D8-6D9E-A4EC730A6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804"/>
            <a:ext cx="12192000" cy="1507067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Search &amp; sort operation in linked list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A7CDA3-0F08-6315-201D-39EED41E66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549" y="2493169"/>
            <a:ext cx="4937125" cy="3079661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F478C92-4A61-B07A-FEF0-19393239B6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009" y="2225630"/>
            <a:ext cx="3130371" cy="3614738"/>
          </a:xfrm>
        </p:spPr>
      </p:pic>
    </p:spTree>
    <p:extLst>
      <p:ext uri="{BB962C8B-B14F-4D97-AF65-F5344CB8AC3E}">
        <p14:creationId xmlns:p14="http://schemas.microsoft.com/office/powerpoint/2010/main" val="1270389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9185E0-38DE-4F1A-AAED-9A073B01E0BC}"/>
              </a:ext>
            </a:extLst>
          </p:cNvPr>
          <p:cNvSpPr txBox="1"/>
          <p:nvPr/>
        </p:nvSpPr>
        <p:spPr>
          <a:xfrm>
            <a:off x="16041" y="2497976"/>
            <a:ext cx="121920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Algerian" panose="04020705040A02060702" pitchFamily="82" charset="0"/>
              </a:rPr>
              <a:t>END</a:t>
            </a:r>
            <a:endParaRPr lang="en-IN" sz="11500" dirty="0">
              <a:latin typeface="Algerian" panose="04020705040A02060702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9982AB-C9A6-4B57-979B-0F13CB5B446D}"/>
              </a:ext>
            </a:extLst>
          </p:cNvPr>
          <p:cNvCxnSpPr/>
          <p:nvPr/>
        </p:nvCxnSpPr>
        <p:spPr>
          <a:xfrm>
            <a:off x="3078480" y="4376648"/>
            <a:ext cx="6336000" cy="0"/>
          </a:xfrm>
          <a:prstGeom prst="line">
            <a:avLst/>
          </a:prstGeom>
          <a:ln>
            <a:solidFill>
              <a:srgbClr val="000000">
                <a:alpha val="60000"/>
              </a:srgb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77727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172</TotalTime>
  <Words>407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Century Gothic</vt:lpstr>
      <vt:lpstr>Nunito</vt:lpstr>
      <vt:lpstr>Wingdings 3</vt:lpstr>
      <vt:lpstr>Slice</vt:lpstr>
      <vt:lpstr>NAME: sayan ghosh STREAM: BCA(2ND YEAR) SECTION: gamma; Sem: 3rd PAPER NAME: DATA STRUCTURE and algorithm PAPER CODE: BCAC 303 UNIVERSITY ROLL NO: 15201222165 </vt:lpstr>
      <vt:lpstr>PRESENTATION ON     “LINKED LIST”</vt:lpstr>
      <vt:lpstr>what is a linked list?....</vt:lpstr>
      <vt:lpstr>Representation of a linked list: This representation of a linked list depicts that each node consists of two fields . The first field consists of data and the second field consists of pointers that point to another node.</vt:lpstr>
      <vt:lpstr>Types of linked list:</vt:lpstr>
      <vt:lpstr>Structure of linked list:</vt:lpstr>
      <vt:lpstr>Array vs linked list:</vt:lpstr>
      <vt:lpstr>Basic operation on linked list:</vt:lpstr>
      <vt:lpstr>Insertion operation  &amp; deletion operation</vt:lpstr>
      <vt:lpstr>Search &amp; sort operation in linked list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NAME: SURAVI DAS  STREAM: BCA(2ND YEAR) SECTION: BETA PAPER NAME: DATA STRUCTURE PAPER CODE: BCAC 303 UNIVERSITY ROLL NO: 15201222072</dc:title>
  <dc:creator>suravi5430@outlook.com</dc:creator>
  <cp:lastModifiedBy>JOY</cp:lastModifiedBy>
  <cp:revision>8</cp:revision>
  <dcterms:created xsi:type="dcterms:W3CDTF">2023-08-01T12:08:11Z</dcterms:created>
  <dcterms:modified xsi:type="dcterms:W3CDTF">2023-08-03T16:09:25Z</dcterms:modified>
</cp:coreProperties>
</file>